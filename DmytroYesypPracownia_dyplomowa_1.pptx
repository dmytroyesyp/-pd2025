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71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19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490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007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8309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3798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095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437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513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432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8462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1435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2198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8601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0895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8874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876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2FA4418-1658-486A-96C0-28BB366A6000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0823D-0F3B-44FF-B5D8-82C8FFDCFA78}" type="slidenum">
              <a:rPr lang="pl-PL" smtClean="0"/>
              <a:t>‹№›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091070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654F1F-D9AE-B161-015B-21CA97A263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 err="1"/>
              <a:t>Bezczujnikowe</a:t>
            </a:r>
            <a:r>
              <a:rPr lang="pl-PL" dirty="0"/>
              <a:t> śledzenie sondy USG na potrzeby rekonstrukcji 3D</a:t>
            </a:r>
          </a:p>
        </p:txBody>
      </p:sp>
    </p:spTree>
    <p:extLst>
      <p:ext uri="{BB962C8B-B14F-4D97-AF65-F5344CB8AC3E}">
        <p14:creationId xmlns:p14="http://schemas.microsoft.com/office/powerpoint/2010/main" val="361628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C8CA1E-FDAA-9BF2-A2BF-31FFC998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Problem i Cel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A2CD0C2-011F-DF0D-62A0-C23314B774B3}"/>
              </a:ext>
            </a:extLst>
          </p:cNvPr>
          <p:cNvSpPr txBox="1"/>
          <p:nvPr/>
        </p:nvSpPr>
        <p:spPr>
          <a:xfrm>
            <a:off x="1106905" y="2090172"/>
            <a:ext cx="102468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/>
              <a:t>Problem:</a:t>
            </a:r>
            <a:r>
              <a:rPr lang="pl-PL" sz="2400" dirty="0"/>
              <a:t> Obrazowanie 2D to tylko płaskie "plastry" anatomii. Pełny obraz 3D wymaga </a:t>
            </a:r>
            <a:r>
              <a:rPr lang="pl-PL" sz="2400" b="1" dirty="0"/>
              <a:t>drogich i nieporęcznych czujników zewnętrznych</a:t>
            </a:r>
            <a:r>
              <a:rPr lang="pl-PL" sz="2400" dirty="0"/>
              <a:t>, co ogranicza dostępność tej technologii.</a:t>
            </a:r>
          </a:p>
          <a:p>
            <a:r>
              <a:rPr lang="pl-PL" sz="2400" b="1" dirty="0"/>
              <a:t>Cel:</a:t>
            </a:r>
            <a:r>
              <a:rPr lang="pl-PL" sz="2400" dirty="0"/>
              <a:t> Opracowanie algorytmu do </a:t>
            </a:r>
            <a:r>
              <a:rPr lang="pl-PL" sz="2400" b="1" dirty="0"/>
              <a:t>precyzyjnego śledzenia ruchu 3D głowicy USG</a:t>
            </a:r>
            <a:r>
              <a:rPr lang="pl-PL" sz="2400" dirty="0"/>
              <a:t>, eliminując potrzebę stosowania dodatkowego, kosztownego sprzętu.</a:t>
            </a:r>
          </a:p>
          <a:p>
            <a:r>
              <a:rPr lang="pl-PL" sz="2400" b="1" dirty="0"/>
              <a:t>Jak?</a:t>
            </a:r>
            <a:r>
              <a:rPr lang="pl-PL" sz="2400" dirty="0"/>
              <a:t> Nasz system będzie </a:t>
            </a:r>
            <a:r>
              <a:rPr lang="pl-PL" sz="2400" b="1" dirty="0"/>
              <a:t>autonomicznie śledził ruch głowicy</a:t>
            </a:r>
            <a:r>
              <a:rPr lang="pl-PL" sz="2400" dirty="0"/>
              <a:t>, analizując unikalny, naturalny wzór tkanki widoczny w kolejnych klatkach obrazu.</a:t>
            </a:r>
          </a:p>
        </p:txBody>
      </p:sp>
    </p:spTree>
    <p:extLst>
      <p:ext uri="{BB962C8B-B14F-4D97-AF65-F5344CB8AC3E}">
        <p14:creationId xmlns:p14="http://schemas.microsoft.com/office/powerpoint/2010/main" val="1549035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29A8E7-FD0B-BE54-7F6B-794FC22C4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Kluczowe Narzędzie: </a:t>
            </a:r>
            <a:r>
              <a:rPr lang="pl-PL" b="1" dirty="0" err="1"/>
              <a:t>Speckle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08984E4-BB16-440C-E5F5-76C8C10C4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799" cy="4351338"/>
          </a:xfrm>
        </p:spPr>
        <p:txBody>
          <a:bodyPr>
            <a:normAutofit/>
          </a:bodyPr>
          <a:lstStyle/>
          <a:p>
            <a:r>
              <a:rPr lang="pl-PL" sz="2000" b="1" dirty="0"/>
              <a:t>Co to jest?</a:t>
            </a:r>
            <a:r>
              <a:rPr lang="pl-PL" sz="2000" dirty="0"/>
              <a:t> Charakterystyczny, ziarnisty wzór w obrazie USG, powstały w wyniku interferencji fal.</a:t>
            </a:r>
          </a:p>
          <a:p>
            <a:r>
              <a:rPr lang="pl-PL" sz="2000" b="1" dirty="0"/>
              <a:t>Kluczowa właściwość:</a:t>
            </a:r>
            <a:r>
              <a:rPr lang="pl-PL" sz="2000" dirty="0"/>
              <a:t> To unikalny i stabilny wzór – działa jak </a:t>
            </a:r>
            <a:r>
              <a:rPr lang="pl-PL" sz="2000" b="1" dirty="0"/>
              <a:t>"odcisk palca" tkanki</a:t>
            </a:r>
            <a:r>
              <a:rPr lang="pl-PL" sz="2000" dirty="0"/>
              <a:t>.</a:t>
            </a:r>
          </a:p>
          <a:p>
            <a:r>
              <a:rPr lang="pl-PL" sz="2000" b="1" dirty="0"/>
              <a:t>Jak to wykorzystamy?</a:t>
            </a:r>
            <a:r>
              <a:rPr lang="pl-PL" sz="2000" dirty="0"/>
              <a:t> Śledząc, jak ten "odcisk palca" przesuwa się między kolejnymi klatkami, precyzyjnie odtwarzamy ruch głowicy.</a:t>
            </a:r>
          </a:p>
          <a:p>
            <a:pPr marL="0" indent="0">
              <a:buNone/>
            </a:pPr>
            <a:endParaRPr lang="pl-PL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3AC83E-0AD1-0AED-5BF6-E441716D4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09" y="1853248"/>
            <a:ext cx="3719215" cy="369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3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154521-DCE7-EEBD-A249-77390389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Podejście nr 1 – </a:t>
            </a:r>
            <a:r>
              <a:rPr lang="pl-PL" b="1" dirty="0" err="1"/>
              <a:t>Speckle</a:t>
            </a:r>
            <a:r>
              <a:rPr lang="pl-PL" b="1" dirty="0"/>
              <a:t> </a:t>
            </a:r>
            <a:r>
              <a:rPr lang="pl-PL" b="1" dirty="0" err="1"/>
              <a:t>Decorrelation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B624C01-0D58-DBE3-1D85-1015FAA594DA}"/>
              </a:ext>
            </a:extLst>
          </p:cNvPr>
          <p:cNvSpPr txBox="1"/>
          <p:nvPr/>
        </p:nvSpPr>
        <p:spPr>
          <a:xfrm>
            <a:off x="838200" y="2041409"/>
            <a:ext cx="63040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Zasada działania:</a:t>
            </a:r>
            <a:r>
              <a:rPr lang="pl-PL" dirty="0"/>
              <a:t> Ruch głowicy powoduje subtelną </a:t>
            </a:r>
            <a:r>
              <a:rPr lang="pl-PL" b="1" dirty="0"/>
              <a:t>zmianę wzoru </a:t>
            </a:r>
            <a:r>
              <a:rPr lang="pl-PL" b="1" dirty="0" err="1"/>
              <a:t>speckle</a:t>
            </a:r>
            <a:r>
              <a:rPr lang="pl-PL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Metoda:</a:t>
            </a:r>
            <a:r>
              <a:rPr lang="pl-PL" dirty="0"/>
              <a:t> Mierzymy stopień tej zmiany (utraty podobieństwa), czyli </a:t>
            </a:r>
            <a:r>
              <a:rPr lang="pl-PL" b="1" dirty="0"/>
              <a:t>dekorelację</a:t>
            </a:r>
            <a:r>
              <a:rPr lang="pl-PL" dirty="0"/>
              <a:t>. Im większa zmiana, tym dalszy ruch, zwłaszcza w kierunku prostopadłym do płaszczyzny obrazu.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Klucz z artykułu:</a:t>
            </a:r>
            <a:r>
              <a:rPr lang="pl-PL" dirty="0"/>
              <a:t> Metoda jest skuteczniejsza, gdy analizujemy tylko obszary z "czystym", w pełni rozwiniętym wzorem </a:t>
            </a:r>
            <a:r>
              <a:rPr lang="pl-PL" dirty="0" err="1"/>
              <a:t>speckle</a:t>
            </a:r>
            <a:r>
              <a:rPr lang="pl-PL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Plusy/Minusy:</a:t>
            </a:r>
            <a:endParaRPr lang="pl-P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b="1" dirty="0"/>
              <a:t>+</a:t>
            </a:r>
            <a:r>
              <a:rPr lang="pl-PL" dirty="0"/>
              <a:t> Prosta koncepcja, dobra do estymacji ruchu "out-of-</a:t>
            </a:r>
            <a:r>
              <a:rPr lang="pl-PL" dirty="0" err="1"/>
              <a:t>plane</a:t>
            </a:r>
            <a:r>
              <a:rPr lang="pl-PL" dirty="0"/>
              <a:t>".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b="1" dirty="0"/>
              <a:t>–</a:t>
            </a:r>
            <a:r>
              <a:rPr lang="pl-PL" dirty="0"/>
              <a:t> Wrażliwość na zakłócenia; sama w sobie może być niedokładna.</a:t>
            </a:r>
          </a:p>
        </p:txBody>
      </p:sp>
      <p:pic>
        <p:nvPicPr>
          <p:cNvPr id="3" name="Obraz 4">
            <a:extLst>
              <a:ext uri="{FF2B5EF4-FFF2-40B4-BE49-F238E27FC236}">
                <a16:creationId xmlns:a16="http://schemas.microsoft.com/office/drawing/2014/main" id="{97E845D6-8B09-F651-A631-A9883108B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127" y="2041409"/>
            <a:ext cx="4312076" cy="338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86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A9E871-098F-9EA5-8F55-ABA3B489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Podejście nr 2 – Śledzenie Oparte na Modelu Ruchu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BD8E1E5-8228-EBF0-1D80-50EDC808A03C}"/>
              </a:ext>
            </a:extLst>
          </p:cNvPr>
          <p:cNvSpPr txBox="1"/>
          <p:nvPr/>
        </p:nvSpPr>
        <p:spPr>
          <a:xfrm>
            <a:off x="838200" y="1690688"/>
            <a:ext cx="1051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Zasada działania:</a:t>
            </a:r>
            <a:r>
              <a:rPr lang="pl-PL" dirty="0"/>
              <a:t> Wychodzimy z założenia, że ruch tkanki jest </a:t>
            </a:r>
            <a:r>
              <a:rPr lang="pl-PL" b="1" dirty="0"/>
              <a:t>płynny i spójny</a:t>
            </a:r>
            <a:r>
              <a:rPr lang="pl-PL" dirty="0"/>
              <a:t>. Sąsiadujące ze sobą fragmenty poruszają się w podobny sposób.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Metoda:</a:t>
            </a:r>
            <a:r>
              <a:rPr lang="pl-PL" dirty="0"/>
              <a:t> Algorytm śledzi bloki pikseli, ale jednocześnie dba o to, by wektor ruchu każdego bloku był </a:t>
            </a:r>
            <a:r>
              <a:rPr lang="pl-PL" b="1" dirty="0"/>
              <a:t>zgodny z ruchem jego sąsiadów</a:t>
            </a:r>
            <a:r>
              <a:rPr lang="pl-PL" dirty="0"/>
              <a:t>. To eliminuje błędne dopasowania.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Klucz z artykułu:</a:t>
            </a:r>
            <a:r>
              <a:rPr lang="pl-PL" dirty="0"/>
              <a:t> Stosuje się tu podejście </a:t>
            </a:r>
            <a:r>
              <a:rPr lang="pl-PL" b="1" dirty="0"/>
              <a:t>wielopoziomowe</a:t>
            </a:r>
            <a:r>
              <a:rPr lang="pl-PL" dirty="0"/>
              <a:t> (od ogólnego do szczegółowego dopasowania), co zwiększa zarówno dokładność, jak i wydajność obliczeniową.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Plusy/Minusy:</a:t>
            </a:r>
            <a:endParaRPr lang="pl-P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b="1" dirty="0"/>
              <a:t>+</a:t>
            </a:r>
            <a:r>
              <a:rPr lang="pl-PL" dirty="0"/>
              <a:t> Znacznie wyższa dokładność i odporność na zakłócenia.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b="1" dirty="0"/>
              <a:t>–</a:t>
            </a:r>
            <a:r>
              <a:rPr lang="pl-PL" dirty="0"/>
              <a:t> Większa złożoność obliczeniowa.</a:t>
            </a:r>
          </a:p>
        </p:txBody>
      </p:sp>
    </p:spTree>
    <p:extLst>
      <p:ext uri="{BB962C8B-B14F-4D97-AF65-F5344CB8AC3E}">
        <p14:creationId xmlns:p14="http://schemas.microsoft.com/office/powerpoint/2010/main" val="192621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379F97-DE2D-BC7D-1629-A128FE082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Porównanie i Synergia Podejść</a:t>
            </a:r>
            <a:endParaRPr lang="pl-PL" dirty="0"/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27F5D49B-FE01-A7EC-CC45-EC95884BE6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567501"/>
              </p:ext>
            </p:extLst>
          </p:nvPr>
        </p:nvGraphicFramePr>
        <p:xfrm>
          <a:off x="1103313" y="2052638"/>
          <a:ext cx="894714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382">
                  <a:extLst>
                    <a:ext uri="{9D8B030D-6E8A-4147-A177-3AD203B41FA5}">
                      <a16:colId xmlns:a16="http://schemas.microsoft.com/office/drawing/2014/main" val="1631534875"/>
                    </a:ext>
                  </a:extLst>
                </a:gridCol>
                <a:gridCol w="2982382">
                  <a:extLst>
                    <a:ext uri="{9D8B030D-6E8A-4147-A177-3AD203B41FA5}">
                      <a16:colId xmlns:a16="http://schemas.microsoft.com/office/drawing/2014/main" val="4242348250"/>
                    </a:ext>
                  </a:extLst>
                </a:gridCol>
                <a:gridCol w="2982382">
                  <a:extLst>
                    <a:ext uri="{9D8B030D-6E8A-4147-A177-3AD203B41FA5}">
                      <a16:colId xmlns:a16="http://schemas.microsoft.com/office/drawing/2014/main" val="1496751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Cecha</a:t>
                      </a:r>
                    </a:p>
                  </a:txBody>
                  <a:tcPr marL="77801" marR="778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/>
                        <a:t>Dekorelacja Plamek</a:t>
                      </a:r>
                      <a:endParaRPr lang="pl-PL"/>
                    </a:p>
                  </a:txBody>
                  <a:tcPr marL="77801" marR="778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 dirty="0"/>
                        <a:t>Śledzenie Oparte na Modelu</a:t>
                      </a:r>
                      <a:endParaRPr lang="pl-PL" dirty="0"/>
                    </a:p>
                  </a:txBody>
                  <a:tcPr marL="77801" marR="77801" anchor="ctr"/>
                </a:tc>
                <a:extLst>
                  <a:ext uri="{0D108BD9-81ED-4DB2-BD59-A6C34878D82A}">
                    <a16:rowId xmlns:a16="http://schemas.microsoft.com/office/drawing/2014/main" val="1185364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/>
                        <a:t>Zasada</a:t>
                      </a:r>
                      <a:endParaRPr lang="pl-PL"/>
                    </a:p>
                  </a:txBody>
                  <a:tcPr marL="77801" marR="778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Pomiar zmiany wzoru</a:t>
                      </a:r>
                    </a:p>
                  </a:txBody>
                  <a:tcPr marL="77801" marR="778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Dopasowanie z "korektą" od sąsiadów</a:t>
                      </a:r>
                    </a:p>
                  </a:txBody>
                  <a:tcPr marL="77801" marR="77801" anchor="ctr"/>
                </a:tc>
                <a:extLst>
                  <a:ext uri="{0D108BD9-81ED-4DB2-BD59-A6C34878D82A}">
                    <a16:rowId xmlns:a16="http://schemas.microsoft.com/office/drawing/2014/main" val="3076637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/>
                        <a:t>Zalety</a:t>
                      </a:r>
                      <a:endParaRPr lang="pl-PL"/>
                    </a:p>
                  </a:txBody>
                  <a:tcPr marL="77801" marR="778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Prostota, ruch "out-of-plane"</a:t>
                      </a:r>
                    </a:p>
                  </a:txBody>
                  <a:tcPr marL="77801" marR="778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Wysoka dokładność i odporność</a:t>
                      </a:r>
                    </a:p>
                  </a:txBody>
                  <a:tcPr marL="77801" marR="77801" anchor="ctr"/>
                </a:tc>
                <a:extLst>
                  <a:ext uri="{0D108BD9-81ED-4DB2-BD59-A6C34878D82A}">
                    <a16:rowId xmlns:a16="http://schemas.microsoft.com/office/drawing/2014/main" val="2962244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/>
                        <a:t>Wady</a:t>
                      </a:r>
                      <a:endParaRPr lang="pl-PL"/>
                    </a:p>
                  </a:txBody>
                  <a:tcPr marL="77801" marR="778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Wrażliwość na zakłócenia</a:t>
                      </a:r>
                    </a:p>
                  </a:txBody>
                  <a:tcPr marL="77801" marR="778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Złożoność obliczeniowa</a:t>
                      </a:r>
                    </a:p>
                  </a:txBody>
                  <a:tcPr marL="77801" marR="77801" anchor="ctr"/>
                </a:tc>
                <a:extLst>
                  <a:ext uri="{0D108BD9-81ED-4DB2-BD59-A6C34878D82A}">
                    <a16:rowId xmlns:a16="http://schemas.microsoft.com/office/drawing/2014/main" val="1127783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28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7C0FD6-DC26-F5F2-DB1F-FDBA61AE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Plan Działania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BD93A8-5561-4120-A371-66A9B997C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Implementacja Algorytmów:</a:t>
            </a:r>
            <a:r>
              <a:rPr lang="pl-PL" dirty="0"/>
              <a:t> Stworzenie działających prototypów obu metod śledzenia w środowisku programistycznym (</a:t>
            </a:r>
            <a:r>
              <a:rPr lang="pl-PL" dirty="0" err="1"/>
              <a:t>Python</a:t>
            </a:r>
            <a:r>
              <a:rPr lang="pl-PL" dirty="0"/>
              <a:t>).</a:t>
            </a:r>
          </a:p>
          <a:p>
            <a:r>
              <a:rPr lang="pl-PL" b="1" dirty="0"/>
              <a:t>Testy na Danych Publicznych:</a:t>
            </a:r>
            <a:r>
              <a:rPr lang="pl-PL" dirty="0"/>
              <a:t> Wykorzystanie gotowych, otwartych zbiorów danych (np. z wyzwania TUS-REC) do wstępnej weryfikacji i optymalizacji algorytmów.</a:t>
            </a:r>
          </a:p>
          <a:p>
            <a:r>
              <a:rPr lang="pl-PL" b="1" dirty="0"/>
              <a:t>Walidacja na Danych Pomiarowych:</a:t>
            </a:r>
            <a:endParaRPr lang="pl-PL" dirty="0"/>
          </a:p>
          <a:p>
            <a:pPr lvl="1"/>
            <a:r>
              <a:rPr lang="pl-PL" dirty="0"/>
              <a:t>Przeprowadzenie kontrolowanych pomiarów na fantomach (wydrukowanych w 3D lub biologicznych).</a:t>
            </a:r>
          </a:p>
          <a:p>
            <a:pPr lvl="1"/>
            <a:r>
              <a:rPr lang="pl-PL" dirty="0"/>
              <a:t>Porównanie wyników z precyzyjnym, zewnętrznym systemem śledzenia (np. z markerami optycznymi) w celu oceny dokładności.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6607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C4AD77-5306-DD99-9A5C-FFF2BC90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Podsumowanie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2FBD92-F71E-3B85-8D03-EE20D9EDC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Główny Cel:</a:t>
            </a:r>
            <a:r>
              <a:rPr lang="pl-PL" dirty="0"/>
              <a:t> Stworzenie niezawodnego i dostępnego systemu do rekonstrukcji 3D USG, który </a:t>
            </a:r>
            <a:r>
              <a:rPr lang="pl-PL" b="1" dirty="0"/>
              <a:t>eliminuje potrzebę stosowania zewnętrznych czujników</a:t>
            </a:r>
            <a:r>
              <a:rPr lang="pl-PL" dirty="0"/>
              <a:t>.</a:t>
            </a:r>
          </a:p>
          <a:p>
            <a:r>
              <a:rPr lang="pl-PL" b="1" dirty="0"/>
              <a:t>Kluczowe Wyzwania:</a:t>
            </a:r>
            <a:r>
              <a:rPr lang="pl-PL" dirty="0"/>
              <a:t> Zapewnienie wysokiej dokładności śledzenia przy złożonych ruchach głowicy oraz odporność na zakłócenia w obrazie.</a:t>
            </a:r>
          </a:p>
          <a:p>
            <a:r>
              <a:rPr lang="pl-PL" b="1" dirty="0"/>
              <a:t>Oczekiwany Rezultat:</a:t>
            </a:r>
            <a:r>
              <a:rPr lang="pl-PL" dirty="0"/>
              <a:t> </a:t>
            </a:r>
            <a:r>
              <a:rPr lang="pl-PL" dirty="0" err="1"/>
              <a:t>Zwalidowany</a:t>
            </a:r>
            <a:r>
              <a:rPr lang="pl-PL" dirty="0"/>
              <a:t> algorytm, który potrafi autonomicznie i precyzyjnie odtworzyć trajektorię głowicy USG.</a:t>
            </a:r>
          </a:p>
        </p:txBody>
      </p:sp>
    </p:spTree>
    <p:extLst>
      <p:ext uri="{BB962C8B-B14F-4D97-AF65-F5344CB8AC3E}">
        <p14:creationId xmlns:p14="http://schemas.microsoft.com/office/powerpoint/2010/main" val="24510592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он">
  <a:themeElements>
    <a:clrScheme name="І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І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І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</TotalTime>
  <Words>519</Words>
  <Application>Microsoft Office PowerPoint</Application>
  <PresentationFormat>Широкий екран</PresentationFormat>
  <Paragraphs>46</Paragraphs>
  <Slides>8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Іон</vt:lpstr>
      <vt:lpstr>Bezczujnikowe śledzenie sondy USG na potrzeby rekonstrukcji 3D</vt:lpstr>
      <vt:lpstr>Problem i Cel</vt:lpstr>
      <vt:lpstr>Kluczowe Narzędzie: Speckle</vt:lpstr>
      <vt:lpstr>Podejście nr 1 – Speckle Decorrelation</vt:lpstr>
      <vt:lpstr>Podejście nr 2 – Śledzenie Oparte na Modelu Ruchu</vt:lpstr>
      <vt:lpstr>Porównanie i Synergia Podejść</vt:lpstr>
      <vt:lpstr>Plan Działania</vt:lpstr>
      <vt:lpstr>Podsumowanie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Dmytro Yesyp</dc:creator>
  <cp:lastModifiedBy>Dmytro Yesyp</cp:lastModifiedBy>
  <cp:revision>3</cp:revision>
  <dcterms:created xsi:type="dcterms:W3CDTF">2025-11-01T23:31:59Z</dcterms:created>
  <dcterms:modified xsi:type="dcterms:W3CDTF">2025-11-03T12:25:33Z</dcterms:modified>
</cp:coreProperties>
</file>