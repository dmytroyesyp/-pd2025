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DA57E1-B806-4FF6-AE07-ED8CC7545B4B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0CFCF7-761F-4344-9489-B4FC32276865}">
      <dgm:prSet/>
      <dgm:spPr/>
      <dgm:t>
        <a:bodyPr/>
        <a:lstStyle/>
        <a:p>
          <a:r>
            <a:rPr lang="en-US" b="0" i="0" dirty="0"/>
            <a:t>To reconstruct the 3D path of a freehand ultrasound probe </a:t>
          </a:r>
          <a:r>
            <a:rPr lang="en-US" b="1" i="0" dirty="0"/>
            <a:t>without</a:t>
          </a:r>
          <a:r>
            <a:rPr lang="en-US" b="0" i="0" dirty="0"/>
            <a:t> an external tracker, using only the B-mode video + a probe-mounted IMU.</a:t>
          </a:r>
          <a:endParaRPr lang="en-US" dirty="0"/>
        </a:p>
      </dgm:t>
    </dgm:pt>
    <dgm:pt modelId="{8768A737-B704-420A-B653-2993DAF42422}" type="parTrans" cxnId="{DB989B43-7C30-4C67-8353-0C87CAC61919}">
      <dgm:prSet/>
      <dgm:spPr/>
      <dgm:t>
        <a:bodyPr/>
        <a:lstStyle/>
        <a:p>
          <a:endParaRPr lang="en-US"/>
        </a:p>
      </dgm:t>
    </dgm:pt>
    <dgm:pt modelId="{9FAEB7F2-BE9E-4468-A928-7F98505ABDED}" type="sibTrans" cxnId="{DB989B43-7C30-4C67-8353-0C87CAC61919}">
      <dgm:prSet/>
      <dgm:spPr/>
      <dgm:t>
        <a:bodyPr/>
        <a:lstStyle/>
        <a:p>
          <a:endParaRPr lang="en-US"/>
        </a:p>
      </dgm:t>
    </dgm:pt>
    <dgm:pt modelId="{73FA22AB-AEF2-4C3E-8E80-8C5D7466A364}" type="pres">
      <dgm:prSet presAssocID="{36DA57E1-B806-4FF6-AE07-ED8CC7545B4B}" presName="vert0" presStyleCnt="0">
        <dgm:presLayoutVars>
          <dgm:dir/>
          <dgm:animOne val="branch"/>
          <dgm:animLvl val="lvl"/>
        </dgm:presLayoutVars>
      </dgm:prSet>
      <dgm:spPr/>
    </dgm:pt>
    <dgm:pt modelId="{5BCD618F-F0DF-4E6D-AAE3-84DF975443D3}" type="pres">
      <dgm:prSet presAssocID="{E30CFCF7-761F-4344-9489-B4FC32276865}" presName="thickLine" presStyleLbl="alignNode1" presStyleIdx="0" presStyleCnt="1"/>
      <dgm:spPr/>
    </dgm:pt>
    <dgm:pt modelId="{44926D27-E20A-43DC-BC71-4C0BB6048F48}" type="pres">
      <dgm:prSet presAssocID="{E30CFCF7-761F-4344-9489-B4FC32276865}" presName="horz1" presStyleCnt="0"/>
      <dgm:spPr/>
    </dgm:pt>
    <dgm:pt modelId="{46B40926-E077-4946-8395-DE705FAAD501}" type="pres">
      <dgm:prSet presAssocID="{E30CFCF7-761F-4344-9489-B4FC32276865}" presName="tx1" presStyleLbl="revTx" presStyleIdx="0" presStyleCnt="1"/>
      <dgm:spPr/>
    </dgm:pt>
    <dgm:pt modelId="{291E89D1-EB50-4B3C-B628-D3BE03E26083}" type="pres">
      <dgm:prSet presAssocID="{E30CFCF7-761F-4344-9489-B4FC32276865}" presName="vert1" presStyleCnt="0"/>
      <dgm:spPr/>
    </dgm:pt>
  </dgm:ptLst>
  <dgm:cxnLst>
    <dgm:cxn modelId="{89CABB2A-9C6E-47BF-8219-D1DC3CADFE35}" type="presOf" srcId="{E30CFCF7-761F-4344-9489-B4FC32276865}" destId="{46B40926-E077-4946-8395-DE705FAAD501}" srcOrd="0" destOrd="0" presId="urn:microsoft.com/office/officeart/2008/layout/LinedList"/>
    <dgm:cxn modelId="{DB989B43-7C30-4C67-8353-0C87CAC61919}" srcId="{36DA57E1-B806-4FF6-AE07-ED8CC7545B4B}" destId="{E30CFCF7-761F-4344-9489-B4FC32276865}" srcOrd="0" destOrd="0" parTransId="{8768A737-B704-420A-B653-2993DAF42422}" sibTransId="{9FAEB7F2-BE9E-4468-A928-7F98505ABDED}"/>
    <dgm:cxn modelId="{64518AC2-8606-4283-8C04-76DB340C0A70}" type="presOf" srcId="{36DA57E1-B806-4FF6-AE07-ED8CC7545B4B}" destId="{73FA22AB-AEF2-4C3E-8E80-8C5D7466A364}" srcOrd="0" destOrd="0" presId="urn:microsoft.com/office/officeart/2008/layout/LinedList"/>
    <dgm:cxn modelId="{B6201CAB-C357-44B2-A98F-B52B566D7F54}" type="presParOf" srcId="{73FA22AB-AEF2-4C3E-8E80-8C5D7466A364}" destId="{5BCD618F-F0DF-4E6D-AAE3-84DF975443D3}" srcOrd="0" destOrd="0" presId="urn:microsoft.com/office/officeart/2008/layout/LinedList"/>
    <dgm:cxn modelId="{6507085B-3453-4A2B-8F77-2ED211CC4308}" type="presParOf" srcId="{73FA22AB-AEF2-4C3E-8E80-8C5D7466A364}" destId="{44926D27-E20A-43DC-BC71-4C0BB6048F48}" srcOrd="1" destOrd="0" presId="urn:microsoft.com/office/officeart/2008/layout/LinedList"/>
    <dgm:cxn modelId="{239BFF20-A249-479C-A9A6-1E926B5B58FC}" type="presParOf" srcId="{44926D27-E20A-43DC-BC71-4C0BB6048F48}" destId="{46B40926-E077-4946-8395-DE705FAAD501}" srcOrd="0" destOrd="0" presId="urn:microsoft.com/office/officeart/2008/layout/LinedList"/>
    <dgm:cxn modelId="{93658FA1-2654-4EAE-8D9B-2D056E839A6D}" type="presParOf" srcId="{44926D27-E20A-43DC-BC71-4C0BB6048F48}" destId="{291E89D1-EB50-4B3C-B628-D3BE03E260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DAD426-313C-4284-AC0C-EA86D474479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86A86C-AACD-4238-B68E-E0E886F9907E}">
      <dgm:prSet/>
      <dgm:spPr/>
      <dgm:t>
        <a:bodyPr/>
        <a:lstStyle/>
        <a:p>
          <a:r>
            <a:rPr lang="en-US" b="1"/>
            <a:t>Tiny per-frame motion.</a:t>
          </a:r>
          <a:r>
            <a:rPr lang="en-US"/>
            <a:t> At 30 fps the probe moves ≈ 0.1–0.5 mm between frames. The signal-to-noise ratio of speckle change is low.</a:t>
          </a:r>
        </a:p>
      </dgm:t>
    </dgm:pt>
    <dgm:pt modelId="{1135812A-BFC6-43C6-91FB-8B158E7A7466}" type="parTrans" cxnId="{13F47D57-E43E-471F-AAE1-5B06B499886F}">
      <dgm:prSet/>
      <dgm:spPr/>
      <dgm:t>
        <a:bodyPr/>
        <a:lstStyle/>
        <a:p>
          <a:endParaRPr lang="en-US"/>
        </a:p>
      </dgm:t>
    </dgm:pt>
    <dgm:pt modelId="{F479B9A2-E105-4CAD-BF17-EDED5339AFD1}" type="sibTrans" cxnId="{13F47D57-E43E-471F-AAE1-5B06B499886F}">
      <dgm:prSet/>
      <dgm:spPr/>
      <dgm:t>
        <a:bodyPr/>
        <a:lstStyle/>
        <a:p>
          <a:endParaRPr lang="en-US"/>
        </a:p>
      </dgm:t>
    </dgm:pt>
    <dgm:pt modelId="{C41F5043-1F33-4944-B530-9E43FEAA3CA7}">
      <dgm:prSet/>
      <dgm:spPr/>
      <dgm:t>
        <a:bodyPr/>
        <a:lstStyle/>
        <a:p>
          <a:r>
            <a:rPr lang="en-US" b="1"/>
            <a:t>Error accumulates.</a:t>
          </a:r>
          <a:r>
            <a:rPr lang="en-US"/>
            <a:t> Reconstruction = cumulative sum of Δz. A 0.1 mm/frame bias becomes ≥ 4 cm of drift over a 400-frame scan.</a:t>
          </a:r>
        </a:p>
      </dgm:t>
    </dgm:pt>
    <dgm:pt modelId="{73A4F4DE-B325-4F3B-8A92-5A3C95E5805A}" type="parTrans" cxnId="{6AAADF52-693A-40B5-9278-9D8EED235466}">
      <dgm:prSet/>
      <dgm:spPr/>
      <dgm:t>
        <a:bodyPr/>
        <a:lstStyle/>
        <a:p>
          <a:endParaRPr lang="en-US"/>
        </a:p>
      </dgm:t>
    </dgm:pt>
    <dgm:pt modelId="{E636BC0C-B37F-4549-AF07-9A20833B7708}" type="sibTrans" cxnId="{6AAADF52-693A-40B5-9278-9D8EED235466}">
      <dgm:prSet/>
      <dgm:spPr/>
      <dgm:t>
        <a:bodyPr/>
        <a:lstStyle/>
        <a:p>
          <a:endParaRPr lang="en-US"/>
        </a:p>
      </dgm:t>
    </dgm:pt>
    <dgm:pt modelId="{E28EB0B6-99F8-4CF0-851F-914F9C34339A}">
      <dgm:prSet/>
      <dgm:spPr/>
      <dgm:t>
        <a:bodyPr/>
        <a:lstStyle/>
        <a:p>
          <a:r>
            <a:rPr lang="en-US" b="1"/>
            <a:t>Direction ambiguity.</a:t>
          </a:r>
          <a:r>
            <a:rPr lang="en-US"/>
            <a:t> Two adjacent frames look almost identical for ±Δz of the same magnitude — the network has to learn which way it moved.</a:t>
          </a:r>
        </a:p>
      </dgm:t>
    </dgm:pt>
    <dgm:pt modelId="{932ED1BD-F938-481D-AB78-BFDAEEBEA1E2}" type="parTrans" cxnId="{DC0BCDDE-C86C-48A8-87E3-CB355408FB08}">
      <dgm:prSet/>
      <dgm:spPr/>
      <dgm:t>
        <a:bodyPr/>
        <a:lstStyle/>
        <a:p>
          <a:endParaRPr lang="en-US"/>
        </a:p>
      </dgm:t>
    </dgm:pt>
    <dgm:pt modelId="{A5D52734-D83C-401D-BCFD-3A9420683BB7}" type="sibTrans" cxnId="{DC0BCDDE-C86C-48A8-87E3-CB355408FB08}">
      <dgm:prSet/>
      <dgm:spPr/>
      <dgm:t>
        <a:bodyPr/>
        <a:lstStyle/>
        <a:p>
          <a:endParaRPr lang="en-US"/>
        </a:p>
      </dgm:t>
    </dgm:pt>
    <dgm:pt modelId="{97663095-3BDF-4195-A358-77FA02214E56}" type="pres">
      <dgm:prSet presAssocID="{8DDAD426-313C-4284-AC0C-EA86D47447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F876A98-BA06-43A4-8F14-3710774DDBD3}" type="pres">
      <dgm:prSet presAssocID="{0C86A86C-AACD-4238-B68E-E0E886F9907E}" presName="hierRoot1" presStyleCnt="0"/>
      <dgm:spPr/>
    </dgm:pt>
    <dgm:pt modelId="{30646835-E076-4BBF-BF7F-5AB5A69DB8BB}" type="pres">
      <dgm:prSet presAssocID="{0C86A86C-AACD-4238-B68E-E0E886F9907E}" presName="composite" presStyleCnt="0"/>
      <dgm:spPr/>
    </dgm:pt>
    <dgm:pt modelId="{E29218FA-7924-4733-AAAA-AFB70900814B}" type="pres">
      <dgm:prSet presAssocID="{0C86A86C-AACD-4238-B68E-E0E886F9907E}" presName="background" presStyleLbl="node0" presStyleIdx="0" presStyleCnt="3"/>
      <dgm:spPr/>
    </dgm:pt>
    <dgm:pt modelId="{3F3D39F7-D4A9-4873-B3E7-B792033CA8B3}" type="pres">
      <dgm:prSet presAssocID="{0C86A86C-AACD-4238-B68E-E0E886F9907E}" presName="text" presStyleLbl="fgAcc0" presStyleIdx="0" presStyleCnt="3">
        <dgm:presLayoutVars>
          <dgm:chPref val="3"/>
        </dgm:presLayoutVars>
      </dgm:prSet>
      <dgm:spPr/>
    </dgm:pt>
    <dgm:pt modelId="{CF5373DB-966C-46C7-8DED-DC09B53EB43E}" type="pres">
      <dgm:prSet presAssocID="{0C86A86C-AACD-4238-B68E-E0E886F9907E}" presName="hierChild2" presStyleCnt="0"/>
      <dgm:spPr/>
    </dgm:pt>
    <dgm:pt modelId="{6C777AAA-7A17-459C-9163-33BCEE2FF95D}" type="pres">
      <dgm:prSet presAssocID="{C41F5043-1F33-4944-B530-9E43FEAA3CA7}" presName="hierRoot1" presStyleCnt="0"/>
      <dgm:spPr/>
    </dgm:pt>
    <dgm:pt modelId="{ABB8424F-6A7C-49C7-BEC6-241E4F536767}" type="pres">
      <dgm:prSet presAssocID="{C41F5043-1F33-4944-B530-9E43FEAA3CA7}" presName="composite" presStyleCnt="0"/>
      <dgm:spPr/>
    </dgm:pt>
    <dgm:pt modelId="{05BD9094-A41F-47A2-B376-5B216F1BDA92}" type="pres">
      <dgm:prSet presAssocID="{C41F5043-1F33-4944-B530-9E43FEAA3CA7}" presName="background" presStyleLbl="node0" presStyleIdx="1" presStyleCnt="3"/>
      <dgm:spPr/>
    </dgm:pt>
    <dgm:pt modelId="{D191376E-60C6-4AA1-85F7-AE634D66A62C}" type="pres">
      <dgm:prSet presAssocID="{C41F5043-1F33-4944-B530-9E43FEAA3CA7}" presName="text" presStyleLbl="fgAcc0" presStyleIdx="1" presStyleCnt="3">
        <dgm:presLayoutVars>
          <dgm:chPref val="3"/>
        </dgm:presLayoutVars>
      </dgm:prSet>
      <dgm:spPr/>
    </dgm:pt>
    <dgm:pt modelId="{032F6CEA-7421-4819-9ABA-E8BCFEB05444}" type="pres">
      <dgm:prSet presAssocID="{C41F5043-1F33-4944-B530-9E43FEAA3CA7}" presName="hierChild2" presStyleCnt="0"/>
      <dgm:spPr/>
    </dgm:pt>
    <dgm:pt modelId="{EC3AED54-67CD-4858-AA96-2DA8B65D77F7}" type="pres">
      <dgm:prSet presAssocID="{E28EB0B6-99F8-4CF0-851F-914F9C34339A}" presName="hierRoot1" presStyleCnt="0"/>
      <dgm:spPr/>
    </dgm:pt>
    <dgm:pt modelId="{05F41825-28F5-45FE-8B44-6A85800A0B14}" type="pres">
      <dgm:prSet presAssocID="{E28EB0B6-99F8-4CF0-851F-914F9C34339A}" presName="composite" presStyleCnt="0"/>
      <dgm:spPr/>
    </dgm:pt>
    <dgm:pt modelId="{5EE1579F-1F59-422B-97C1-B88D6ABE153E}" type="pres">
      <dgm:prSet presAssocID="{E28EB0B6-99F8-4CF0-851F-914F9C34339A}" presName="background" presStyleLbl="node0" presStyleIdx="2" presStyleCnt="3"/>
      <dgm:spPr/>
    </dgm:pt>
    <dgm:pt modelId="{6C02DB61-EB0F-41E9-B706-A61B56EC5A5E}" type="pres">
      <dgm:prSet presAssocID="{E28EB0B6-99F8-4CF0-851F-914F9C34339A}" presName="text" presStyleLbl="fgAcc0" presStyleIdx="2" presStyleCnt="3">
        <dgm:presLayoutVars>
          <dgm:chPref val="3"/>
        </dgm:presLayoutVars>
      </dgm:prSet>
      <dgm:spPr/>
    </dgm:pt>
    <dgm:pt modelId="{00A61663-04F6-488C-AC13-51F6C14B9E3C}" type="pres">
      <dgm:prSet presAssocID="{E28EB0B6-99F8-4CF0-851F-914F9C34339A}" presName="hierChild2" presStyleCnt="0"/>
      <dgm:spPr/>
    </dgm:pt>
  </dgm:ptLst>
  <dgm:cxnLst>
    <dgm:cxn modelId="{9511A515-A6A3-456F-9612-A74D347201DE}" type="presOf" srcId="{0C86A86C-AACD-4238-B68E-E0E886F9907E}" destId="{3F3D39F7-D4A9-4873-B3E7-B792033CA8B3}" srcOrd="0" destOrd="0" presId="urn:microsoft.com/office/officeart/2005/8/layout/hierarchy1"/>
    <dgm:cxn modelId="{3C465326-FB8C-4916-AEB7-79EE4E1A0537}" type="presOf" srcId="{C41F5043-1F33-4944-B530-9E43FEAA3CA7}" destId="{D191376E-60C6-4AA1-85F7-AE634D66A62C}" srcOrd="0" destOrd="0" presId="urn:microsoft.com/office/officeart/2005/8/layout/hierarchy1"/>
    <dgm:cxn modelId="{6AAADF52-693A-40B5-9278-9D8EED235466}" srcId="{8DDAD426-313C-4284-AC0C-EA86D474479D}" destId="{C41F5043-1F33-4944-B530-9E43FEAA3CA7}" srcOrd="1" destOrd="0" parTransId="{73A4F4DE-B325-4F3B-8A92-5A3C95E5805A}" sibTransId="{E636BC0C-B37F-4549-AF07-9A20833B7708}"/>
    <dgm:cxn modelId="{13F47D57-E43E-471F-AAE1-5B06B499886F}" srcId="{8DDAD426-313C-4284-AC0C-EA86D474479D}" destId="{0C86A86C-AACD-4238-B68E-E0E886F9907E}" srcOrd="0" destOrd="0" parTransId="{1135812A-BFC6-43C6-91FB-8B158E7A7466}" sibTransId="{F479B9A2-E105-4CAD-BF17-EDED5339AFD1}"/>
    <dgm:cxn modelId="{154D9DCC-1499-4CFC-B4EE-A7174E930084}" type="presOf" srcId="{8DDAD426-313C-4284-AC0C-EA86D474479D}" destId="{97663095-3BDF-4195-A358-77FA02214E56}" srcOrd="0" destOrd="0" presId="urn:microsoft.com/office/officeart/2005/8/layout/hierarchy1"/>
    <dgm:cxn modelId="{DC0BCDDE-C86C-48A8-87E3-CB355408FB08}" srcId="{8DDAD426-313C-4284-AC0C-EA86D474479D}" destId="{E28EB0B6-99F8-4CF0-851F-914F9C34339A}" srcOrd="2" destOrd="0" parTransId="{932ED1BD-F938-481D-AB78-BFDAEEBEA1E2}" sibTransId="{A5D52734-D83C-401D-BCFD-3A9420683BB7}"/>
    <dgm:cxn modelId="{006F15F5-512B-4A19-A3A4-82DB26C4DD8E}" type="presOf" srcId="{E28EB0B6-99F8-4CF0-851F-914F9C34339A}" destId="{6C02DB61-EB0F-41E9-B706-A61B56EC5A5E}" srcOrd="0" destOrd="0" presId="urn:microsoft.com/office/officeart/2005/8/layout/hierarchy1"/>
    <dgm:cxn modelId="{3A3E305E-AE98-477F-B4AF-2AF0D63EEFB6}" type="presParOf" srcId="{97663095-3BDF-4195-A358-77FA02214E56}" destId="{7F876A98-BA06-43A4-8F14-3710774DDBD3}" srcOrd="0" destOrd="0" presId="urn:microsoft.com/office/officeart/2005/8/layout/hierarchy1"/>
    <dgm:cxn modelId="{25E3E2E9-5811-4920-8AC9-B2D825E6A6A2}" type="presParOf" srcId="{7F876A98-BA06-43A4-8F14-3710774DDBD3}" destId="{30646835-E076-4BBF-BF7F-5AB5A69DB8BB}" srcOrd="0" destOrd="0" presId="urn:microsoft.com/office/officeart/2005/8/layout/hierarchy1"/>
    <dgm:cxn modelId="{68F7CCED-03C0-43B7-83E0-92F711538257}" type="presParOf" srcId="{30646835-E076-4BBF-BF7F-5AB5A69DB8BB}" destId="{E29218FA-7924-4733-AAAA-AFB70900814B}" srcOrd="0" destOrd="0" presId="urn:microsoft.com/office/officeart/2005/8/layout/hierarchy1"/>
    <dgm:cxn modelId="{F8EB28F3-82D8-4DC2-8E8C-6E95BE20B47D}" type="presParOf" srcId="{30646835-E076-4BBF-BF7F-5AB5A69DB8BB}" destId="{3F3D39F7-D4A9-4873-B3E7-B792033CA8B3}" srcOrd="1" destOrd="0" presId="urn:microsoft.com/office/officeart/2005/8/layout/hierarchy1"/>
    <dgm:cxn modelId="{733AE02D-5D26-4F40-B450-27E253741846}" type="presParOf" srcId="{7F876A98-BA06-43A4-8F14-3710774DDBD3}" destId="{CF5373DB-966C-46C7-8DED-DC09B53EB43E}" srcOrd="1" destOrd="0" presId="urn:microsoft.com/office/officeart/2005/8/layout/hierarchy1"/>
    <dgm:cxn modelId="{87AAA9FE-50F9-45BD-B18D-AF11415F3316}" type="presParOf" srcId="{97663095-3BDF-4195-A358-77FA02214E56}" destId="{6C777AAA-7A17-459C-9163-33BCEE2FF95D}" srcOrd="1" destOrd="0" presId="urn:microsoft.com/office/officeart/2005/8/layout/hierarchy1"/>
    <dgm:cxn modelId="{EEB15818-F5F0-4AA9-8CC4-C93790664C21}" type="presParOf" srcId="{6C777AAA-7A17-459C-9163-33BCEE2FF95D}" destId="{ABB8424F-6A7C-49C7-BEC6-241E4F536767}" srcOrd="0" destOrd="0" presId="urn:microsoft.com/office/officeart/2005/8/layout/hierarchy1"/>
    <dgm:cxn modelId="{874E95CC-336B-46AB-B635-0DD4E05137EE}" type="presParOf" srcId="{ABB8424F-6A7C-49C7-BEC6-241E4F536767}" destId="{05BD9094-A41F-47A2-B376-5B216F1BDA92}" srcOrd="0" destOrd="0" presId="urn:microsoft.com/office/officeart/2005/8/layout/hierarchy1"/>
    <dgm:cxn modelId="{43D9C228-2C19-4B9C-ADF7-CD33A5EF2483}" type="presParOf" srcId="{ABB8424F-6A7C-49C7-BEC6-241E4F536767}" destId="{D191376E-60C6-4AA1-85F7-AE634D66A62C}" srcOrd="1" destOrd="0" presId="urn:microsoft.com/office/officeart/2005/8/layout/hierarchy1"/>
    <dgm:cxn modelId="{A1811704-4886-4FF5-BDBE-5B03F54D4F93}" type="presParOf" srcId="{6C777AAA-7A17-459C-9163-33BCEE2FF95D}" destId="{032F6CEA-7421-4819-9ABA-E8BCFEB05444}" srcOrd="1" destOrd="0" presId="urn:microsoft.com/office/officeart/2005/8/layout/hierarchy1"/>
    <dgm:cxn modelId="{6684B55F-3374-421B-B390-83266475103C}" type="presParOf" srcId="{97663095-3BDF-4195-A358-77FA02214E56}" destId="{EC3AED54-67CD-4858-AA96-2DA8B65D77F7}" srcOrd="2" destOrd="0" presId="urn:microsoft.com/office/officeart/2005/8/layout/hierarchy1"/>
    <dgm:cxn modelId="{4BE93421-A75D-4AE9-B4A0-FA56A7FB2606}" type="presParOf" srcId="{EC3AED54-67CD-4858-AA96-2DA8B65D77F7}" destId="{05F41825-28F5-45FE-8B44-6A85800A0B14}" srcOrd="0" destOrd="0" presId="urn:microsoft.com/office/officeart/2005/8/layout/hierarchy1"/>
    <dgm:cxn modelId="{640CF4F0-999B-4E38-ADCD-094AE5160F81}" type="presParOf" srcId="{05F41825-28F5-45FE-8B44-6A85800A0B14}" destId="{5EE1579F-1F59-422B-97C1-B88D6ABE153E}" srcOrd="0" destOrd="0" presId="urn:microsoft.com/office/officeart/2005/8/layout/hierarchy1"/>
    <dgm:cxn modelId="{2A185F8F-3DAC-4E48-84AB-D7E8474AE43B}" type="presParOf" srcId="{05F41825-28F5-45FE-8B44-6A85800A0B14}" destId="{6C02DB61-EB0F-41E9-B706-A61B56EC5A5E}" srcOrd="1" destOrd="0" presId="urn:microsoft.com/office/officeart/2005/8/layout/hierarchy1"/>
    <dgm:cxn modelId="{045DF199-2D2F-47E9-8597-DA8C493D0688}" type="presParOf" srcId="{EC3AED54-67CD-4858-AA96-2DA8B65D77F7}" destId="{00A61663-04F6-488C-AC13-51F6C14B9E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25E4AB-4C95-4493-842E-5647580DCDF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68BD8E-1CC2-4D29-9D09-6152D38A2B82}">
      <dgm:prSet/>
      <dgm:spPr/>
      <dgm:t>
        <a:bodyPr/>
        <a:lstStyle/>
        <a:p>
          <a:r>
            <a:rPr lang="pl-PL"/>
            <a:t>50 training subjects, 3 validation subjects × 24 scans each. 6 MHz curvilinear probe @ 30 fps. ~400–500 frames per scan.</a:t>
          </a:r>
          <a:endParaRPr lang="en-US"/>
        </a:p>
      </dgm:t>
    </dgm:pt>
    <dgm:pt modelId="{E61A8EBD-D287-4750-977F-03C7A1BCAB6B}" type="parTrans" cxnId="{A10923CF-BA0E-43EA-A1B1-AFA47CCB1B3E}">
      <dgm:prSet/>
      <dgm:spPr/>
      <dgm:t>
        <a:bodyPr/>
        <a:lstStyle/>
        <a:p>
          <a:endParaRPr lang="en-US"/>
        </a:p>
      </dgm:t>
    </dgm:pt>
    <dgm:pt modelId="{65239320-7F6E-4F06-80B7-88BD9CF7CE84}" type="sibTrans" cxnId="{A10923CF-BA0E-43EA-A1B1-AFA47CCB1B3E}">
      <dgm:prSet/>
      <dgm:spPr/>
      <dgm:t>
        <a:bodyPr/>
        <a:lstStyle/>
        <a:p>
          <a:endParaRPr lang="en-US"/>
        </a:p>
      </dgm:t>
    </dgm:pt>
    <dgm:pt modelId="{2740099C-CB2A-4618-8D48-00F40E6C70CF}">
      <dgm:prSet/>
      <dgm:spPr/>
      <dgm:t>
        <a:bodyPr/>
        <a:lstStyle/>
        <a:p>
          <a:r>
            <a:rPr lang="pl-PL"/>
            <a:t>For every scan: B-mode image stack [N, H, W] + 4×4 GT transforms [N, 4, 4] from optical tracker.</a:t>
          </a:r>
          <a:endParaRPr lang="en-US"/>
        </a:p>
      </dgm:t>
    </dgm:pt>
    <dgm:pt modelId="{14CE1B24-EBA1-413D-A329-5A6A3ABFE469}" type="parTrans" cxnId="{4E49F0DB-7210-4794-B2E0-744D5D6BB267}">
      <dgm:prSet/>
      <dgm:spPr/>
      <dgm:t>
        <a:bodyPr/>
        <a:lstStyle/>
        <a:p>
          <a:endParaRPr lang="en-US"/>
        </a:p>
      </dgm:t>
    </dgm:pt>
    <dgm:pt modelId="{79B10EE5-A177-4AF2-A0A9-C55EB8644B14}" type="sibTrans" cxnId="{4E49F0DB-7210-4794-B2E0-744D5D6BB267}">
      <dgm:prSet/>
      <dgm:spPr/>
      <dgm:t>
        <a:bodyPr/>
        <a:lstStyle/>
        <a:p>
          <a:endParaRPr lang="en-US"/>
        </a:p>
      </dgm:t>
    </dgm:pt>
    <dgm:pt modelId="{BE7D7B01-40C2-49F0-A707-DA0330DF322E}">
      <dgm:prSet/>
      <dgm:spPr/>
      <dgm:t>
        <a:bodyPr/>
        <a:lstStyle/>
        <a:p>
          <a:r>
            <a:rPr lang="pl-PL"/>
            <a:t>Supervision target = </a:t>
          </a:r>
          <a:r>
            <a:rPr lang="pl-PL" b="1"/>
            <a:t>per-frame </a:t>
          </a:r>
          <a:r>
            <a:rPr lang="el-GR" b="1"/>
            <a:t>Δ</a:t>
          </a:r>
          <a:r>
            <a:rPr lang="pl-PL" b="1"/>
            <a:t>z</a:t>
          </a:r>
          <a:r>
            <a:rPr lang="pl-PL"/>
            <a:t>: target[p] = z(p+1) − z(p) extracted from the translation column of tforms.</a:t>
          </a:r>
          <a:endParaRPr lang="en-US"/>
        </a:p>
      </dgm:t>
    </dgm:pt>
    <dgm:pt modelId="{883EC460-6FBD-4164-9F23-AE0A52AAAEDC}" type="parTrans" cxnId="{FFCF643F-C774-4AD0-A413-1C6B7A00C3B1}">
      <dgm:prSet/>
      <dgm:spPr/>
      <dgm:t>
        <a:bodyPr/>
        <a:lstStyle/>
        <a:p>
          <a:endParaRPr lang="en-US"/>
        </a:p>
      </dgm:t>
    </dgm:pt>
    <dgm:pt modelId="{72EC57FD-2AB0-47BA-B67A-A86BD79181F3}" type="sibTrans" cxnId="{FFCF643F-C774-4AD0-A413-1C6B7A00C3B1}">
      <dgm:prSet/>
      <dgm:spPr/>
      <dgm:t>
        <a:bodyPr/>
        <a:lstStyle/>
        <a:p>
          <a:endParaRPr lang="en-US"/>
        </a:p>
      </dgm:t>
    </dgm:pt>
    <dgm:pt modelId="{5543A117-E24B-4FFF-A92A-952D65E5702C}">
      <dgm:prSet/>
      <dgm:spPr/>
      <dgm:t>
        <a:bodyPr/>
        <a:lstStyle/>
        <a:p>
          <a:r>
            <a:rPr lang="pl-PL"/>
            <a:t>IMU is </a:t>
          </a:r>
          <a:r>
            <a:rPr lang="pl-PL" b="1"/>
            <a:t>simulated</a:t>
          </a:r>
          <a:r>
            <a:rPr lang="pl-PL"/>
            <a:t> from GT transforms (numerical 2nd derivative + bias/noise model) — swap-in real IMU later.</a:t>
          </a:r>
          <a:endParaRPr lang="en-US"/>
        </a:p>
      </dgm:t>
    </dgm:pt>
    <dgm:pt modelId="{6C7C9338-59B2-46CD-A385-5E77D73DE0BF}" type="parTrans" cxnId="{1D1E1223-C8BC-4772-8932-3839EC655575}">
      <dgm:prSet/>
      <dgm:spPr/>
      <dgm:t>
        <a:bodyPr/>
        <a:lstStyle/>
        <a:p>
          <a:endParaRPr lang="en-US"/>
        </a:p>
      </dgm:t>
    </dgm:pt>
    <dgm:pt modelId="{F7C2922B-067C-460B-AE2D-6A47D43008F3}" type="sibTrans" cxnId="{1D1E1223-C8BC-4772-8932-3839EC655575}">
      <dgm:prSet/>
      <dgm:spPr/>
      <dgm:t>
        <a:bodyPr/>
        <a:lstStyle/>
        <a:p>
          <a:endParaRPr lang="en-US"/>
        </a:p>
      </dgm:t>
    </dgm:pt>
    <dgm:pt modelId="{C8E9A243-0716-4E68-85F5-4827C492D87B}" type="pres">
      <dgm:prSet presAssocID="{1A25E4AB-4C95-4493-842E-5647580DCDF0}" presName="linear" presStyleCnt="0">
        <dgm:presLayoutVars>
          <dgm:animLvl val="lvl"/>
          <dgm:resizeHandles val="exact"/>
        </dgm:presLayoutVars>
      </dgm:prSet>
      <dgm:spPr/>
    </dgm:pt>
    <dgm:pt modelId="{78ABD724-5199-4506-849A-690363D6382F}" type="pres">
      <dgm:prSet presAssocID="{DA68BD8E-1CC2-4D29-9D09-6152D38A2B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833054-9348-45DF-B7E6-283058961EED}" type="pres">
      <dgm:prSet presAssocID="{65239320-7F6E-4F06-80B7-88BD9CF7CE84}" presName="spacer" presStyleCnt="0"/>
      <dgm:spPr/>
    </dgm:pt>
    <dgm:pt modelId="{02938F85-C6C9-4224-91F1-2F6621B525F7}" type="pres">
      <dgm:prSet presAssocID="{2740099C-CB2A-4618-8D48-00F40E6C70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9DA068-DDCA-4DA4-B8F5-F8789EE7AE20}" type="pres">
      <dgm:prSet presAssocID="{79B10EE5-A177-4AF2-A0A9-C55EB8644B14}" presName="spacer" presStyleCnt="0"/>
      <dgm:spPr/>
    </dgm:pt>
    <dgm:pt modelId="{D04230E5-7174-4C3D-A025-0B68A9A4D5D7}" type="pres">
      <dgm:prSet presAssocID="{BE7D7B01-40C2-49F0-A707-DA0330DF32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633685-8E91-43AB-971C-8ACFBEA783EE}" type="pres">
      <dgm:prSet presAssocID="{72EC57FD-2AB0-47BA-B67A-A86BD79181F3}" presName="spacer" presStyleCnt="0"/>
      <dgm:spPr/>
    </dgm:pt>
    <dgm:pt modelId="{005FCB01-1677-4A80-AB41-604DC1EA02AD}" type="pres">
      <dgm:prSet presAssocID="{5543A117-E24B-4FFF-A92A-952D65E570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037B01-73A3-4E62-A3C1-21E920B48232}" type="presOf" srcId="{BE7D7B01-40C2-49F0-A707-DA0330DF322E}" destId="{D04230E5-7174-4C3D-A025-0B68A9A4D5D7}" srcOrd="0" destOrd="0" presId="urn:microsoft.com/office/officeart/2005/8/layout/vList2"/>
    <dgm:cxn modelId="{1D1E1223-C8BC-4772-8932-3839EC655575}" srcId="{1A25E4AB-4C95-4493-842E-5647580DCDF0}" destId="{5543A117-E24B-4FFF-A92A-952D65E5702C}" srcOrd="3" destOrd="0" parTransId="{6C7C9338-59B2-46CD-A385-5E77D73DE0BF}" sibTransId="{F7C2922B-067C-460B-AE2D-6A47D43008F3}"/>
    <dgm:cxn modelId="{FFCF643F-C774-4AD0-A413-1C6B7A00C3B1}" srcId="{1A25E4AB-4C95-4493-842E-5647580DCDF0}" destId="{BE7D7B01-40C2-49F0-A707-DA0330DF322E}" srcOrd="2" destOrd="0" parTransId="{883EC460-6FBD-4164-9F23-AE0A52AAAEDC}" sibTransId="{72EC57FD-2AB0-47BA-B67A-A86BD79181F3}"/>
    <dgm:cxn modelId="{CFDE1B7B-4F0D-41E8-A5EF-8E57EF43E584}" type="presOf" srcId="{1A25E4AB-4C95-4493-842E-5647580DCDF0}" destId="{C8E9A243-0716-4E68-85F5-4827C492D87B}" srcOrd="0" destOrd="0" presId="urn:microsoft.com/office/officeart/2005/8/layout/vList2"/>
    <dgm:cxn modelId="{4A6301B4-14BF-4F90-9341-D9D3C134D2F0}" type="presOf" srcId="{2740099C-CB2A-4618-8D48-00F40E6C70CF}" destId="{02938F85-C6C9-4224-91F1-2F6621B525F7}" srcOrd="0" destOrd="0" presId="urn:microsoft.com/office/officeart/2005/8/layout/vList2"/>
    <dgm:cxn modelId="{92206FC6-8FA5-4E56-A027-0DF4DA4A7B24}" type="presOf" srcId="{5543A117-E24B-4FFF-A92A-952D65E5702C}" destId="{005FCB01-1677-4A80-AB41-604DC1EA02AD}" srcOrd="0" destOrd="0" presId="urn:microsoft.com/office/officeart/2005/8/layout/vList2"/>
    <dgm:cxn modelId="{A10923CF-BA0E-43EA-A1B1-AFA47CCB1B3E}" srcId="{1A25E4AB-4C95-4493-842E-5647580DCDF0}" destId="{DA68BD8E-1CC2-4D29-9D09-6152D38A2B82}" srcOrd="0" destOrd="0" parTransId="{E61A8EBD-D287-4750-977F-03C7A1BCAB6B}" sibTransId="{65239320-7F6E-4F06-80B7-88BD9CF7CE84}"/>
    <dgm:cxn modelId="{4E49F0DB-7210-4794-B2E0-744D5D6BB267}" srcId="{1A25E4AB-4C95-4493-842E-5647580DCDF0}" destId="{2740099C-CB2A-4618-8D48-00F40E6C70CF}" srcOrd="1" destOrd="0" parTransId="{14CE1B24-EBA1-413D-A329-5A6A3ABFE469}" sibTransId="{79B10EE5-A177-4AF2-A0A9-C55EB8644B14}"/>
    <dgm:cxn modelId="{EB5A37DE-8CB0-4592-8BF5-7FEF20F71D1D}" type="presOf" srcId="{DA68BD8E-1CC2-4D29-9D09-6152D38A2B82}" destId="{78ABD724-5199-4506-849A-690363D6382F}" srcOrd="0" destOrd="0" presId="urn:microsoft.com/office/officeart/2005/8/layout/vList2"/>
    <dgm:cxn modelId="{0E96F321-8FDD-4EF5-A79E-8038F6283484}" type="presParOf" srcId="{C8E9A243-0716-4E68-85F5-4827C492D87B}" destId="{78ABD724-5199-4506-849A-690363D6382F}" srcOrd="0" destOrd="0" presId="urn:microsoft.com/office/officeart/2005/8/layout/vList2"/>
    <dgm:cxn modelId="{70C110F1-2556-438F-9445-CFDBA6D9436E}" type="presParOf" srcId="{C8E9A243-0716-4E68-85F5-4827C492D87B}" destId="{FF833054-9348-45DF-B7E6-283058961EED}" srcOrd="1" destOrd="0" presId="urn:microsoft.com/office/officeart/2005/8/layout/vList2"/>
    <dgm:cxn modelId="{90DCED4E-8BDE-4B56-B798-FC41B52A8152}" type="presParOf" srcId="{C8E9A243-0716-4E68-85F5-4827C492D87B}" destId="{02938F85-C6C9-4224-91F1-2F6621B525F7}" srcOrd="2" destOrd="0" presId="urn:microsoft.com/office/officeart/2005/8/layout/vList2"/>
    <dgm:cxn modelId="{FF5FC4CF-474E-4C5D-97DA-C68E76B94928}" type="presParOf" srcId="{C8E9A243-0716-4E68-85F5-4827C492D87B}" destId="{029DA068-DDCA-4DA4-B8F5-F8789EE7AE20}" srcOrd="3" destOrd="0" presId="urn:microsoft.com/office/officeart/2005/8/layout/vList2"/>
    <dgm:cxn modelId="{5CE3B1EF-9AD4-4546-82FF-CC9149AA4419}" type="presParOf" srcId="{C8E9A243-0716-4E68-85F5-4827C492D87B}" destId="{D04230E5-7174-4C3D-A025-0B68A9A4D5D7}" srcOrd="4" destOrd="0" presId="urn:microsoft.com/office/officeart/2005/8/layout/vList2"/>
    <dgm:cxn modelId="{991836C7-928F-4E0A-8060-ABA4C66A0725}" type="presParOf" srcId="{C8E9A243-0716-4E68-85F5-4827C492D87B}" destId="{75633685-8E91-43AB-971C-8ACFBEA783EE}" srcOrd="5" destOrd="0" presId="urn:microsoft.com/office/officeart/2005/8/layout/vList2"/>
    <dgm:cxn modelId="{69D7250F-9890-44CC-926A-E915DDA9CC51}" type="presParOf" srcId="{C8E9A243-0716-4E68-85F5-4827C492D87B}" destId="{005FCB01-1677-4A80-AB41-604DC1EA02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D618F-F0DF-4E6D-AAE3-84DF975443D3}">
      <dsp:nvSpPr>
        <dsp:cNvPr id="0" name=""/>
        <dsp:cNvSpPr/>
      </dsp:nvSpPr>
      <dsp:spPr>
        <a:xfrm>
          <a:off x="0" y="0"/>
          <a:ext cx="5127171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5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5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B40926-E077-4946-8395-DE705FAAD501}">
      <dsp:nvSpPr>
        <dsp:cNvPr id="0" name=""/>
        <dsp:cNvSpPr/>
      </dsp:nvSpPr>
      <dsp:spPr>
        <a:xfrm>
          <a:off x="0" y="0"/>
          <a:ext cx="5127171" cy="36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To reconstruct the 3D path of a freehand ultrasound probe </a:t>
          </a:r>
          <a:r>
            <a:rPr lang="en-US" sz="3500" b="1" i="0" kern="1200" dirty="0"/>
            <a:t>without</a:t>
          </a:r>
          <a:r>
            <a:rPr lang="en-US" sz="3500" b="0" i="0" kern="1200" dirty="0"/>
            <a:t> an external tracker, using only the B-mode video + a probe-mounted IMU.</a:t>
          </a:r>
          <a:endParaRPr lang="en-US" sz="3500" kern="1200" dirty="0"/>
        </a:p>
      </dsp:txBody>
      <dsp:txXfrm>
        <a:off x="0" y="0"/>
        <a:ext cx="5127171" cy="3670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218FA-7924-4733-AAAA-AFB70900814B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D39F7-D4A9-4873-B3E7-B792033CA8B3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Tiny per-frame motion.</a:t>
          </a:r>
          <a:r>
            <a:rPr lang="en-US" sz="1700" kern="1200"/>
            <a:t> At 30 fps the probe moves ≈ 0.1–0.5 mm between frames. The signal-to-noise ratio of speckle change is low.</a:t>
          </a:r>
        </a:p>
      </dsp:txBody>
      <dsp:txXfrm>
        <a:off x="366939" y="1196774"/>
        <a:ext cx="2723696" cy="1691139"/>
      </dsp:txXfrm>
    </dsp:sp>
    <dsp:sp modelId="{05BD9094-A41F-47A2-B376-5B216F1BDA92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1376E-60C6-4AA1-85F7-AE634D66A62C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Error accumulates.</a:t>
          </a:r>
          <a:r>
            <a:rPr lang="en-US" sz="1700" kern="1200"/>
            <a:t> Reconstruction = cumulative sum of Δz. A 0.1 mm/frame bias becomes ≥ 4 cm of drift over a 400-frame scan.</a:t>
          </a:r>
        </a:p>
      </dsp:txBody>
      <dsp:txXfrm>
        <a:off x="3824513" y="1196774"/>
        <a:ext cx="2723696" cy="1691139"/>
      </dsp:txXfrm>
    </dsp:sp>
    <dsp:sp modelId="{5EE1579F-1F59-422B-97C1-B88D6ABE153E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2DB61-EB0F-41E9-B706-A61B56EC5A5E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Direction ambiguity.</a:t>
          </a:r>
          <a:r>
            <a:rPr lang="en-US" sz="1700" kern="1200"/>
            <a:t> Two adjacent frames look almost identical for ±Δz of the same magnitude — the network has to learn which way it moved.</a:t>
          </a:r>
        </a:p>
      </dsp:txBody>
      <dsp:txXfrm>
        <a:off x="7282089" y="1196774"/>
        <a:ext cx="2723696" cy="16911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BD724-5199-4506-849A-690363D6382F}">
      <dsp:nvSpPr>
        <dsp:cNvPr id="0" name=""/>
        <dsp:cNvSpPr/>
      </dsp:nvSpPr>
      <dsp:spPr>
        <a:xfrm>
          <a:off x="0" y="81756"/>
          <a:ext cx="6797675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50 training subjects, 3 validation subjects × 24 scans each. 6 MHz curvilinear probe @ 30 fps. ~400–500 frames per scan.</a:t>
          </a:r>
          <a:endParaRPr lang="en-US" sz="2400" kern="1200"/>
        </a:p>
      </dsp:txBody>
      <dsp:txXfrm>
        <a:off x="64425" y="146181"/>
        <a:ext cx="6668825" cy="1190909"/>
      </dsp:txXfrm>
    </dsp:sp>
    <dsp:sp modelId="{02938F85-C6C9-4224-91F1-2F6621B525F7}">
      <dsp:nvSpPr>
        <dsp:cNvPr id="0" name=""/>
        <dsp:cNvSpPr/>
      </dsp:nvSpPr>
      <dsp:spPr>
        <a:xfrm>
          <a:off x="0" y="1470636"/>
          <a:ext cx="6797675" cy="1319759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For every scan: B-mode image stack [N, H, W] + 4×4 GT transforms [N, 4, 4] from optical tracker.</a:t>
          </a:r>
          <a:endParaRPr lang="en-US" sz="2400" kern="1200"/>
        </a:p>
      </dsp:txBody>
      <dsp:txXfrm>
        <a:off x="64425" y="1535061"/>
        <a:ext cx="6668825" cy="1190909"/>
      </dsp:txXfrm>
    </dsp:sp>
    <dsp:sp modelId="{D04230E5-7174-4C3D-A025-0B68A9A4D5D7}">
      <dsp:nvSpPr>
        <dsp:cNvPr id="0" name=""/>
        <dsp:cNvSpPr/>
      </dsp:nvSpPr>
      <dsp:spPr>
        <a:xfrm>
          <a:off x="0" y="2859516"/>
          <a:ext cx="6797675" cy="1319759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Supervision target = </a:t>
          </a:r>
          <a:r>
            <a:rPr lang="pl-PL" sz="2400" b="1" kern="1200"/>
            <a:t>per-frame </a:t>
          </a:r>
          <a:r>
            <a:rPr lang="el-GR" sz="2400" b="1" kern="1200"/>
            <a:t>Δ</a:t>
          </a:r>
          <a:r>
            <a:rPr lang="pl-PL" sz="2400" b="1" kern="1200"/>
            <a:t>z</a:t>
          </a:r>
          <a:r>
            <a:rPr lang="pl-PL" sz="2400" kern="1200"/>
            <a:t>: target[p] = z(p+1) − z(p) extracted from the translation column of tforms.</a:t>
          </a:r>
          <a:endParaRPr lang="en-US" sz="2400" kern="1200"/>
        </a:p>
      </dsp:txBody>
      <dsp:txXfrm>
        <a:off x="64425" y="2923941"/>
        <a:ext cx="6668825" cy="1190909"/>
      </dsp:txXfrm>
    </dsp:sp>
    <dsp:sp modelId="{005FCB01-1677-4A80-AB41-604DC1EA02AD}">
      <dsp:nvSpPr>
        <dsp:cNvPr id="0" name=""/>
        <dsp:cNvSpPr/>
      </dsp:nvSpPr>
      <dsp:spPr>
        <a:xfrm>
          <a:off x="0" y="4248396"/>
          <a:ext cx="6797675" cy="1319759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IMU is </a:t>
          </a:r>
          <a:r>
            <a:rPr lang="pl-PL" sz="2400" b="1" kern="1200"/>
            <a:t>simulated</a:t>
          </a:r>
          <a:r>
            <a:rPr lang="pl-PL" sz="2400" kern="1200"/>
            <a:t> from GT transforms (numerical 2nd derivative + bias/noise model) — swap-in real IMU later.</a:t>
          </a:r>
          <a:endParaRPr lang="en-US" sz="2400" kern="1200"/>
        </a:p>
      </dsp:txBody>
      <dsp:txXfrm>
        <a:off x="64425" y="4312821"/>
        <a:ext cx="6668825" cy="1190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E38E2-4C3D-447D-8BC3-99F357AA05D3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CAC37-B3EF-421A-88FF-7D84644412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0792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essentially visual odometry on a noisy, low-baseline signal. Two consequences drive the whole design: (a) we need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context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just frame pairs; (b) we need to predict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scalar carefully because sign errors are catastrophic.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CAC37-B3EF-421A-88FF-7D8464441220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750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 never give the model the absolute pose. It only ever sees images and predicts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trajectory is a cumulative sum at inference.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CAC37-B3EF-421A-88FF-7D8464441220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977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82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300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98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002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525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94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702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667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82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749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478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9C6492-DAF2-490C-BA6B-E57D4026E2F8}" type="datetimeFigureOut">
              <a:rPr lang="pl-PL" smtClean="0"/>
              <a:t>17.05.2026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91D357-6799-4266-80D9-5870CC02B653}" type="slidenum">
              <a:rPr lang="pl-PL" smtClean="0"/>
              <a:t>‹#›</a:t>
            </a:fld>
            <a:endParaRPr lang="pl-P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55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Rectangle 2069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85" name="Rectangle 2071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2086" name="Straight Connector 2073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87" name="Rectangle 2075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FFF72E4-3DE9-8A48-8816-82D310EB4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>
                <a:solidFill>
                  <a:schemeClr val="tx1">
                    <a:lumMod val="75000"/>
                    <a:lumOff val="25000"/>
                  </a:schemeClr>
                </a:solidFill>
              </a:rPr>
              <a:t>Trackerless 3D Ultrasound Reconstruction via Visual–Inertial Fusion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F0635C-9029-F8C7-17BA-F101B72F6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735710"/>
            <a:ext cx="5451627" cy="306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88" name="Straight Connector 2077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9" name="Rectangle 2079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090" name="Rectangle 2081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6" name="pole tekstowe 3">
            <a:extLst>
              <a:ext uri="{FF2B5EF4-FFF2-40B4-BE49-F238E27FC236}">
                <a16:creationId xmlns:a16="http://schemas.microsoft.com/office/drawing/2014/main" id="{54D0AAE5-93C2-FF13-0E9D-A013ED399D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694128"/>
              </p:ext>
            </p:extLst>
          </p:nvPr>
        </p:nvGraphicFramePr>
        <p:xfrm>
          <a:off x="6411684" y="2198914"/>
          <a:ext cx="5127172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823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922E53-046F-4810-B973-86A0C467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What makes </a:t>
            </a:r>
            <a:r>
              <a:rPr lang="en-US" dirty="0" err="1"/>
              <a:t>trackerless</a:t>
            </a:r>
            <a:r>
              <a:rPr lang="en-US" dirty="0"/>
              <a:t> reconstruction hard</a:t>
            </a:r>
            <a:endParaRPr lang="pl-PL" dirty="0"/>
          </a:p>
        </p:txBody>
      </p:sp>
      <p:graphicFrame>
        <p:nvGraphicFramePr>
          <p:cNvPr id="7" name="Symbol zastępczy zawartości 2">
            <a:extLst>
              <a:ext uri="{FF2B5EF4-FFF2-40B4-BE49-F238E27FC236}">
                <a16:creationId xmlns:a16="http://schemas.microsoft.com/office/drawing/2014/main" id="{52B48060-516F-3774-3286-BC5A5E07B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41087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743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9291A1-4663-9E7E-01EB-FFEC5B4F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pl-PL" sz="3600">
                <a:solidFill>
                  <a:srgbClr val="FFFFFF"/>
                </a:solidFill>
              </a:rPr>
              <a:t>TUS-REC2024 dataset &amp; supervision signal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aphicFrame>
        <p:nvGraphicFramePr>
          <p:cNvPr id="7" name="Symbol zastępczy zawartości 2">
            <a:extLst>
              <a:ext uri="{FF2B5EF4-FFF2-40B4-BE49-F238E27FC236}">
                <a16:creationId xmlns:a16="http://schemas.microsoft.com/office/drawing/2014/main" id="{8536E618-1D99-F1B6-0925-7E19799469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79005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493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45" name="Rectangle 3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46" name="Straight Connector 3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3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654229-A338-B663-2443-17D58F4E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End-to-end pipeline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1BB06AF-5AEE-3F31-1A66-0A8BDCD77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61" y="640081"/>
            <a:ext cx="3032493" cy="5054156"/>
          </a:xfrm>
          <a:prstGeom prst="rect">
            <a:avLst/>
          </a:prstGeom>
        </p:spPr>
      </p:pic>
      <p:cxnSp>
        <p:nvCxnSpPr>
          <p:cNvPr id="48" name="Straight Connector 3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859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24DA0E-D942-0E56-85B5-DD71A61E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How the model sees each frame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54988B0-88B1-CF0C-19B4-5CEBC71C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32" y="3155457"/>
            <a:ext cx="3094997" cy="992734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E87786-5455-4332-8294-34D5F9BF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r>
              <a:rPr lang="pl-PL" dirty="0" err="1"/>
              <a:t>Backbone</a:t>
            </a:r>
            <a:r>
              <a:rPr lang="pl-PL" dirty="0"/>
              <a:t>: </a:t>
            </a:r>
            <a:r>
              <a:rPr lang="pl-PL" b="1" dirty="0"/>
              <a:t>ResNet-18 </a:t>
            </a:r>
            <a:r>
              <a:rPr lang="pl-PL" b="1" dirty="0" err="1"/>
              <a:t>pretrained</a:t>
            </a:r>
            <a:r>
              <a:rPr lang="pl-PL" b="1" dirty="0"/>
              <a:t> on </a:t>
            </a:r>
            <a:r>
              <a:rPr lang="pl-PL" b="1" dirty="0" err="1"/>
              <a:t>ImageNet</a:t>
            </a:r>
            <a:r>
              <a:rPr lang="pl-PL" dirty="0"/>
              <a:t>, conv1 </a:t>
            </a:r>
            <a:r>
              <a:rPr lang="pl-PL" dirty="0" err="1"/>
              <a:t>rewired</a:t>
            </a:r>
            <a:r>
              <a:rPr lang="pl-PL" dirty="0"/>
              <a:t> to 1-channel </a:t>
            </a:r>
            <a:r>
              <a:rPr lang="pl-PL" dirty="0" err="1"/>
              <a:t>input</a:t>
            </a:r>
            <a:r>
              <a:rPr lang="pl-PL" dirty="0"/>
              <a:t> (</a:t>
            </a:r>
            <a:r>
              <a:rPr lang="pl-PL" dirty="0" err="1"/>
              <a:t>grayscale</a:t>
            </a:r>
            <a:r>
              <a:rPr lang="pl-PL" dirty="0"/>
              <a:t> US). </a:t>
            </a:r>
            <a:r>
              <a:rPr lang="pl-PL" dirty="0" err="1"/>
              <a:t>Stem</a:t>
            </a:r>
            <a:r>
              <a:rPr lang="pl-PL" dirty="0"/>
              <a:t> + layer1 </a:t>
            </a:r>
            <a:r>
              <a:rPr lang="pl-PL" dirty="0" err="1"/>
              <a:t>frozen</a:t>
            </a:r>
            <a:r>
              <a:rPr lang="pl-PL" dirty="0"/>
              <a:t> —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encode</a:t>
            </a:r>
            <a:r>
              <a:rPr lang="pl-PL" dirty="0"/>
              <a:t> </a:t>
            </a:r>
            <a:r>
              <a:rPr lang="pl-PL" dirty="0" err="1"/>
              <a:t>low-level</a:t>
            </a:r>
            <a:r>
              <a:rPr lang="pl-PL" dirty="0"/>
              <a:t> </a:t>
            </a:r>
            <a:r>
              <a:rPr lang="pl-PL" dirty="0" err="1"/>
              <a:t>texture</a:t>
            </a:r>
            <a:r>
              <a:rPr lang="pl-PL" dirty="0"/>
              <a:t>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doesn't</a:t>
            </a:r>
            <a:r>
              <a:rPr lang="pl-PL" dirty="0"/>
              <a:t> </a:t>
            </a:r>
            <a:r>
              <a:rPr lang="pl-PL" dirty="0" err="1"/>
              <a:t>need</a:t>
            </a:r>
            <a:r>
              <a:rPr lang="pl-PL" dirty="0"/>
              <a:t> </a:t>
            </a:r>
            <a:r>
              <a:rPr lang="pl-PL" dirty="0" err="1"/>
              <a:t>adaptation</a:t>
            </a:r>
            <a:r>
              <a:rPr lang="pl-PL" dirty="0"/>
              <a:t>.</a:t>
            </a:r>
          </a:p>
          <a:p>
            <a:r>
              <a:rPr lang="pl-PL" dirty="0"/>
              <a:t>Three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maps</a:t>
            </a:r>
            <a:r>
              <a:rPr lang="pl-PL" dirty="0"/>
              <a:t> </a:t>
            </a:r>
            <a:r>
              <a:rPr lang="pl-PL" dirty="0" err="1"/>
              <a:t>tapped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depths</a:t>
            </a:r>
            <a:r>
              <a:rPr lang="pl-PL" dirty="0"/>
              <a:t> and </a:t>
            </a:r>
            <a:r>
              <a:rPr lang="pl-PL" dirty="0" err="1"/>
              <a:t>pooled</a:t>
            </a:r>
            <a:r>
              <a:rPr lang="pl-PL" dirty="0"/>
              <a:t> to </a:t>
            </a:r>
            <a:r>
              <a:rPr lang="pl-PL" b="1" dirty="0"/>
              <a:t>2×2 </a:t>
            </a:r>
            <a:r>
              <a:rPr lang="pl-PL" b="1" dirty="0" err="1"/>
              <a:t>patches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layer2 → 128×2×2 = 512</a:t>
            </a:r>
          </a:p>
          <a:p>
            <a:pPr lvl="1"/>
            <a:r>
              <a:rPr lang="pl-PL" dirty="0"/>
              <a:t>layer3 → 256×2×2 = 1024</a:t>
            </a:r>
          </a:p>
          <a:p>
            <a:pPr lvl="1"/>
            <a:r>
              <a:rPr lang="pl-PL" dirty="0"/>
              <a:t>layer4 → 512×2×2 = 2048</a:t>
            </a:r>
          </a:p>
          <a:p>
            <a:r>
              <a:rPr lang="pl-PL" dirty="0" err="1"/>
              <a:t>Concatenated</a:t>
            </a:r>
            <a:r>
              <a:rPr lang="pl-PL" dirty="0"/>
              <a:t> → 3584-D → </a:t>
            </a:r>
            <a:r>
              <a:rPr lang="pl-PL" dirty="0" err="1"/>
              <a:t>linear</a:t>
            </a:r>
            <a:r>
              <a:rPr lang="pl-PL" dirty="0"/>
              <a:t> → </a:t>
            </a:r>
            <a:r>
              <a:rPr lang="pl-PL" b="1" dirty="0"/>
              <a:t>256-D per-</a:t>
            </a:r>
            <a:r>
              <a:rPr lang="pl-PL" b="1" dirty="0" err="1"/>
              <a:t>frame</a:t>
            </a:r>
            <a:r>
              <a:rPr lang="pl-PL" b="1" dirty="0"/>
              <a:t> </a:t>
            </a:r>
            <a:r>
              <a:rPr lang="pl-PL" b="1" dirty="0" err="1"/>
              <a:t>embedding</a:t>
            </a:r>
            <a:r>
              <a:rPr lang="pl-PL" dirty="0"/>
              <a:t> with </a:t>
            </a:r>
            <a:r>
              <a:rPr lang="pl-PL" dirty="0" err="1"/>
              <a:t>LayerNorm</a:t>
            </a:r>
            <a:r>
              <a:rPr lang="pl-PL" dirty="0"/>
              <a:t> + </a:t>
            </a:r>
            <a:r>
              <a:rPr lang="pl-PL" dirty="0" err="1"/>
              <a:t>ReLU</a:t>
            </a:r>
            <a:r>
              <a:rPr lang="pl-PL" dirty="0"/>
              <a:t> + </a:t>
            </a:r>
            <a:r>
              <a:rPr lang="pl-PL" dirty="0" err="1"/>
              <a:t>Dropout</a:t>
            </a:r>
            <a:r>
              <a:rPr lang="pl-PL" dirty="0"/>
              <a:t>(0.3).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2893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E3B7F4D-C6CD-70CE-4403-F3B15945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/>
              <a:t>Making motion explicit, before the temporal block</a:t>
            </a:r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47FAA34-27AE-6FB5-FB75-F9B8E8F7D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7" y="634946"/>
            <a:ext cx="4020297" cy="108079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ACA31E1D-71B4-86E5-7F7F-E057EE9CE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58" y="2049608"/>
            <a:ext cx="4030762" cy="31339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2191CB0-B6DF-0CEA-BE8A-ED0FA382F7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44679" y="2198914"/>
                <a:ext cx="6405063" cy="367018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Instead of </a:t>
                </a:r>
                <a:r>
                  <a:rPr lang="pl-PL" dirty="0" err="1"/>
                  <a:t>feeding</a:t>
                </a:r>
                <a:r>
                  <a:rPr lang="pl-PL" dirty="0"/>
                  <a:t> </a:t>
                </a:r>
                <a:r>
                  <a:rPr lang="pl-PL" dirty="0" err="1"/>
                  <a:t>raw</a:t>
                </a:r>
                <a:r>
                  <a:rPr lang="pl-PL" dirty="0"/>
                  <a:t> per-</a:t>
                </a:r>
                <a:r>
                  <a:rPr lang="pl-PL" dirty="0" err="1"/>
                  <a:t>frame</a:t>
                </a:r>
                <a:r>
                  <a:rPr lang="pl-PL" dirty="0"/>
                  <a:t> </a:t>
                </a:r>
                <a:r>
                  <a:rPr lang="pl-PL" dirty="0" err="1"/>
                  <a:t>features</a:t>
                </a:r>
                <a:r>
                  <a:rPr lang="pl-PL" dirty="0"/>
                  <a:t> </a:t>
                </a:r>
                <a:r>
                  <a:rPr lang="pl-PL" dirty="0" err="1"/>
                  <a:t>into</a:t>
                </a:r>
                <a:r>
                  <a:rPr lang="pl-PL" dirty="0"/>
                  <a:t> the </a:t>
                </a:r>
                <a:r>
                  <a:rPr lang="pl-PL" dirty="0" err="1"/>
                  <a:t>sequence</a:t>
                </a:r>
                <a:r>
                  <a:rPr lang="pl-PL" dirty="0"/>
                  <a:t> model, </a:t>
                </a:r>
                <a:r>
                  <a:rPr lang="pl-PL" dirty="0" err="1"/>
                  <a:t>build</a:t>
                </a:r>
                <a:r>
                  <a:rPr lang="pl-PL" dirty="0"/>
                  <a:t> a </a:t>
                </a:r>
                <a:r>
                  <a:rPr lang="pl-PL" b="1" dirty="0" err="1"/>
                  <a:t>motion-aware</a:t>
                </a:r>
                <a:r>
                  <a:rPr lang="pl-PL" b="1" dirty="0"/>
                  <a:t> </a:t>
                </a:r>
                <a:r>
                  <a:rPr lang="pl-PL" b="1" dirty="0" err="1"/>
                  <a:t>feature</a:t>
                </a:r>
                <a:r>
                  <a:rPr lang="pl-PL" dirty="0"/>
                  <a:t> </a:t>
                </a:r>
                <a:r>
                  <a:rPr lang="pl-PL" dirty="0" err="1"/>
                  <a:t>at</a:t>
                </a:r>
                <a:r>
                  <a:rPr lang="pl-PL" dirty="0"/>
                  <a:t> </a:t>
                </a:r>
                <a:r>
                  <a:rPr lang="pl-PL" dirty="0" err="1"/>
                  <a:t>each</a:t>
                </a:r>
                <a:r>
                  <a:rPr lang="pl-PL" dirty="0"/>
                  <a:t> </a:t>
                </a:r>
                <a:r>
                  <a:rPr lang="pl-PL" dirty="0" err="1"/>
                  <a:t>position</a:t>
                </a:r>
                <a:r>
                  <a:rPr lang="pl-PL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 err="1"/>
                  <a:t>pair_p</a:t>
                </a:r>
                <a:r>
                  <a:rPr lang="pl-PL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|"/>
                        <m:ctrlPr>
                          <a:rPr lang="pl-P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l-PL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pl-P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pl-P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pl-PL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|"/>
                        <m:endChr m:val="]"/>
                        <m:ctrlPr>
                          <a:rPr lang="pl-P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l-PL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pl-PL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b>
                        </m:sSub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pl-PL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pl-PL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for </a:t>
                </a:r>
                <a:r>
                  <a:rPr lang="pl-PL" dirty="0" err="1"/>
                  <a:t>strides</a:t>
                </a:r>
                <a:r>
                  <a:rPr lang="pl-PL" dirty="0"/>
                  <a:t> </a:t>
                </a:r>
                <a14:m>
                  <m:oMath xmlns:m="http://schemas.openxmlformats.org/officeDocument/2006/math">
                    <m:r>
                      <a:rPr lang="pl-PL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l-PL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pl-P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</m:oMath>
                </a14:m>
                <a:r>
                  <a:rPr lang="pl-PL" dirty="0"/>
                  <a:t> (</a:t>
                </a:r>
                <a:r>
                  <a:rPr lang="pl-PL" dirty="0" err="1"/>
                  <a:t>multi-scale</a:t>
                </a:r>
                <a:r>
                  <a:rPr lang="pl-PL" dirty="0"/>
                  <a:t>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Then </a:t>
                </a:r>
                <a:r>
                  <a:rPr lang="pl-PL" dirty="0" err="1"/>
                  <a:t>pair_proj</a:t>
                </a:r>
                <a:r>
                  <a:rPr lang="pl-PL" dirty="0"/>
                  <a:t> (</a:t>
                </a:r>
                <a:r>
                  <a:rPr lang="pl-PL" dirty="0" err="1"/>
                  <a:t>Linear</a:t>
                </a:r>
                <a:r>
                  <a:rPr lang="pl-PL" dirty="0"/>
                  <a:t> → </a:t>
                </a:r>
                <a:r>
                  <a:rPr lang="pl-PL" dirty="0" err="1"/>
                  <a:t>LayerNorm</a:t>
                </a:r>
                <a:r>
                  <a:rPr lang="pl-PL" dirty="0"/>
                  <a:t> → </a:t>
                </a:r>
                <a:r>
                  <a:rPr lang="pl-PL" dirty="0" err="1"/>
                  <a:t>ReLU</a:t>
                </a:r>
                <a:r>
                  <a:rPr lang="pl-PL" dirty="0"/>
                  <a:t> → </a:t>
                </a:r>
                <a:r>
                  <a:rPr lang="pl-PL" dirty="0" err="1"/>
                  <a:t>Dropout</a:t>
                </a:r>
                <a:r>
                  <a:rPr lang="pl-PL" dirty="0"/>
                  <a:t>) </a:t>
                </a:r>
                <a:r>
                  <a:rPr lang="pl-PL" dirty="0" err="1"/>
                  <a:t>compresses</a:t>
                </a:r>
                <a:r>
                  <a:rPr lang="pl-PL" dirty="0"/>
                  <a:t> </a:t>
                </a:r>
                <a:r>
                  <a:rPr lang="pl-PL" dirty="0" err="1"/>
                  <a:t>it</a:t>
                </a:r>
                <a:r>
                  <a:rPr lang="pl-PL" dirty="0"/>
                  <a:t> </a:t>
                </a:r>
                <a:r>
                  <a:rPr lang="pl-PL" dirty="0" err="1"/>
                  <a:t>back</a:t>
                </a:r>
                <a:r>
                  <a:rPr lang="pl-PL" dirty="0"/>
                  <a:t> to 256-D.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 err="1"/>
                  <a:t>Output</a:t>
                </a:r>
                <a:r>
                  <a:rPr lang="pl-PL" dirty="0"/>
                  <a:t> </a:t>
                </a:r>
                <a:r>
                  <a:rPr lang="pl-PL" dirty="0" err="1"/>
                  <a:t>length</a:t>
                </a:r>
                <a:r>
                  <a:rPr lang="pl-PL" dirty="0"/>
                  <a:t> </a:t>
                </a:r>
                <a:r>
                  <a:rPr lang="pl-PL" dirty="0" err="1"/>
                  <a:t>shrinks</a:t>
                </a:r>
                <a:r>
                  <a:rPr lang="pl-PL" dirty="0"/>
                  <a:t> from S to S − max(</a:t>
                </a:r>
                <a:r>
                  <a:rPr lang="pl-PL" dirty="0" err="1"/>
                  <a:t>strides</a:t>
                </a:r>
                <a:r>
                  <a:rPr lang="pl-PL" dirty="0"/>
                  <a:t>) (= 18 for SEQ_LEN=20, </a:t>
                </a:r>
                <a:r>
                  <a:rPr lang="pl-PL" dirty="0" err="1"/>
                  <a:t>strides</a:t>
                </a:r>
                <a:r>
                  <a:rPr lang="pl-PL" dirty="0"/>
                  <a:t> (1,2)). </a:t>
                </a:r>
                <a:r>
                  <a:rPr lang="pl-PL" dirty="0" err="1"/>
                  <a:t>Targets</a:t>
                </a:r>
                <a:r>
                  <a:rPr lang="pl-PL" dirty="0"/>
                  <a:t> </a:t>
                </a:r>
                <a:r>
                  <a:rPr lang="pl-PL" dirty="0" err="1"/>
                  <a:t>are</a:t>
                </a:r>
                <a:r>
                  <a:rPr lang="pl-PL" dirty="0"/>
                  <a:t> </a:t>
                </a:r>
                <a:r>
                  <a:rPr lang="pl-PL" dirty="0" err="1"/>
                  <a:t>sliced</a:t>
                </a:r>
                <a:r>
                  <a:rPr lang="pl-PL" dirty="0"/>
                  <a:t> </a:t>
                </a:r>
                <a:r>
                  <a:rPr lang="pl-PL" dirty="0" err="1"/>
                  <a:t>accordingly</a:t>
                </a:r>
                <a:r>
                  <a:rPr lang="pl-PL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2191CB0-B6DF-0CEA-BE8A-ED0FA382F7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4679" y="2198914"/>
                <a:ext cx="6405063" cy="3670180"/>
              </a:xfrm>
              <a:blipFill>
                <a:blip r:embed="rId4"/>
                <a:stretch>
                  <a:fillRect l="-2284" t="-1827" r="-8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430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DABADF-3D38-4917-8179-4C6ED097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How temporal context is mixed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48614F-67AC-6D69-3E4E-14C0A38CA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 dirty="0"/>
              <a:t>After positional encoding, the 256-D embeddings pass through </a:t>
            </a:r>
            <a:r>
              <a:rPr lang="en-US" b="1" dirty="0"/>
              <a:t>2 × </a:t>
            </a:r>
            <a:r>
              <a:rPr lang="en-US" b="1" dirty="0" err="1"/>
              <a:t>TemporalSSMBlock</a:t>
            </a:r>
            <a:r>
              <a:rPr lang="en-US" dirty="0"/>
              <a:t> — a Mamba-inspired structured state-space block.</a:t>
            </a:r>
          </a:p>
          <a:p>
            <a:r>
              <a:rPr lang="en-US" dirty="0"/>
              <a:t>Each block: input projection → </a:t>
            </a:r>
            <a:r>
              <a:rPr lang="en-US" b="1" dirty="0" err="1"/>
              <a:t>depthwise</a:t>
            </a:r>
            <a:r>
              <a:rPr lang="en-US" b="1" dirty="0"/>
              <a:t> Conv1d (k=3) over time</a:t>
            </a:r>
            <a:r>
              <a:rPr lang="en-US" dirty="0"/>
              <a:t> → gated </a:t>
            </a:r>
            <a:r>
              <a:rPr lang="en-US" dirty="0" err="1"/>
              <a:t>SiLU</a:t>
            </a:r>
            <a:r>
              <a:rPr lang="en-US" dirty="0"/>
              <a:t> → output projection → residual.</a:t>
            </a:r>
          </a:p>
          <a:p>
            <a:r>
              <a:rPr lang="en-US" dirty="0"/>
              <a:t>Why not a Transformer here: sequence length is only 20, the cost is dominated by the backbone, and the conv-gated formulation is cheap and stable for this length.</a:t>
            </a:r>
          </a:p>
          <a:p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26416EA-28D0-224E-A943-FE98A09BF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079" y="1845734"/>
            <a:ext cx="3734601" cy="369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3FC410-AB6A-B137-91CC-809F0118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pl-PL" dirty="0" err="1"/>
              <a:t>Decoupling</a:t>
            </a:r>
            <a:r>
              <a:rPr lang="pl-PL" dirty="0"/>
              <a:t> </a:t>
            </a:r>
            <a:r>
              <a:rPr lang="pl-PL" dirty="0" err="1"/>
              <a:t>magnitude</a:t>
            </a:r>
            <a:r>
              <a:rPr lang="pl-PL" dirty="0"/>
              <a:t> and </a:t>
            </a:r>
            <a:r>
              <a:rPr lang="pl-PL" dirty="0" err="1"/>
              <a:t>sign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47456BB-344B-D60D-6E10-00FC33730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115587"/>
            <a:ext cx="5451627" cy="430678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35FE678-1967-9B54-EBDE-9760729CBB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>
                <a:normAutofit/>
              </a:bodyPr>
              <a:lstStyle/>
              <a:p>
                <a:r>
                  <a:rPr lang="en-US" sz="1500" dirty="0"/>
                  <a:t>A single regression head for signed </a:t>
                </a:r>
                <a:r>
                  <a:rPr lang="en-US" sz="1500" dirty="0" err="1"/>
                  <a:t>Δz</a:t>
                </a:r>
                <a:r>
                  <a:rPr lang="en-US" sz="1500" dirty="0"/>
                  <a:t> was systematically wrong-signed on the *_</a:t>
                </a:r>
                <a:r>
                  <a:rPr lang="en-US" sz="1500" dirty="0" err="1"/>
                  <a:t>L_DtP</a:t>
                </a:r>
                <a:r>
                  <a:rPr lang="en-US" sz="1500" dirty="0"/>
                  <a:t> validation cases (probe moved one way, predicted the other).</a:t>
                </a:r>
              </a:p>
              <a:p>
                <a:r>
                  <a:rPr lang="en-US" sz="1500" dirty="0"/>
                  <a:t>New design: </a:t>
                </a:r>
                <a:r>
                  <a:rPr lang="en-US" sz="1500" b="1" dirty="0"/>
                  <a:t>two heads share the same temporal features</a:t>
                </a:r>
                <a:r>
                  <a:rPr lang="en-US" sz="15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𝑚𝑎𝑔</m:t>
                        </m:r>
                      </m:sub>
                    </m:sSub>
                  </m:oMath>
                </a14:m>
                <a:r>
                  <a:rPr lang="en-US" sz="1500" dirty="0"/>
                  <a:t> → predicts 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500" i="0" dirty="0" err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5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500" dirty="0"/>
                  <a:t> (always non-negative)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</m:sub>
                    </m:sSub>
                  </m:oMath>
                </a14:m>
                <a:r>
                  <a:rPr lang="en-US" sz="1500" dirty="0"/>
                  <a:t> → predicts a logit; sign at inference = tanh(logit)</a:t>
                </a:r>
              </a:p>
              <a:p>
                <a:r>
                  <a:rPr lang="en-US" sz="1500" dirty="0"/>
                  <a:t>At inference: 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𝑠𝑖𝑔𝑛𝑒</m:t>
                    </m:r>
                    <m:sSub>
                      <m:sSubPr>
                        <m:ctrlPr>
                          <a:rPr lang="en-US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500" i="0" dirty="0" err="1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5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500" dirty="0"/>
                  <a:t> = mag · tanh(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𝑠𝑖𝑔</m:t>
                    </m:r>
                    <m:sSub>
                      <m:sSubPr>
                        <m:ctrlPr>
                          <a:rPr lang="en-US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500" i="1" dirty="0" smtClean="0">
                            <a:latin typeface="Cambria Math" panose="02040503050406030204" pitchFamily="18" charset="0"/>
                          </a:rPr>
                          <m:t>𝑙𝑜𝑔𝑖𝑡</m:t>
                        </m:r>
                      </m:sub>
                    </m:sSub>
                  </m:oMath>
                </a14:m>
                <a:r>
                  <a:rPr lang="en-US" sz="1500" dirty="0"/>
                  <a:t>).</a:t>
                </a:r>
              </a:p>
              <a:p>
                <a:r>
                  <a:rPr lang="en-US" sz="1500" dirty="0"/>
                  <a:t>Heads emit one prediction per position; only the </a:t>
                </a:r>
                <a:r>
                  <a:rPr lang="en-US" sz="1500" b="1" dirty="0"/>
                  <a:t>last position</a:t>
                </a:r>
                <a:r>
                  <a:rPr lang="en-US" sz="1500" dirty="0"/>
                  <a:t> is used for trajectory cumulation.</a:t>
                </a:r>
              </a:p>
              <a:p>
                <a:endParaRPr lang="pl-PL" sz="1500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35FE678-1967-9B54-EBDE-9760729CB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476" t="-997" r="-9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493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627908-EB42-4371-F18F-4C4282308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Motion-weighted L1 + masked sign BCE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D086EF-EFF9-C7E5-0AFC-EE675954D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Motion weighting.</a:t>
            </a:r>
            <a:r>
              <a:rPr lang="en-US" dirty="0"/>
              <a:t> Most frames have small |</a:t>
            </a:r>
            <a:r>
              <a:rPr lang="en-US" dirty="0" err="1"/>
              <a:t>Δz</a:t>
            </a:r>
            <a:r>
              <a:rPr lang="en-US" dirty="0"/>
              <a:t>|; if we don't upweight, the model regresses to zero. Use w = 1 + α · |target| with α = 2.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Position masking.</a:t>
            </a:r>
            <a:r>
              <a:rPr lang="en-US" dirty="0"/>
              <a:t> First 5 temporal positions are ignored — the temporal stack hasn't seen enough context yet. Loss only flows from positions ≥ 5.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Sign mask.</a:t>
            </a:r>
            <a:r>
              <a:rPr lang="en-US" dirty="0"/>
              <a:t> BCE on the sign head is masked when |target| &lt; 0.01 mm — near-stationary frames have undefined "true sign".</a:t>
            </a:r>
          </a:p>
          <a:p>
            <a:r>
              <a:rPr lang="en-US" dirty="0"/>
              <a:t>Final loss: L = motion_weighted_L1(mag, |target|) + 0.3 · </a:t>
            </a:r>
            <a:r>
              <a:rPr lang="en-US" dirty="0" err="1"/>
              <a:t>masked_BCE</a:t>
            </a:r>
            <a:r>
              <a:rPr lang="en-US" dirty="0"/>
              <a:t>(</a:t>
            </a:r>
            <a:r>
              <a:rPr lang="en-US" dirty="0" err="1"/>
              <a:t>sign_logit</a:t>
            </a:r>
            <a:r>
              <a:rPr lang="en-US" dirty="0"/>
              <a:t>, target &gt; 0)</a:t>
            </a:r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FA2C908-9496-577B-336C-36864C7D1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70" y="2907632"/>
            <a:ext cx="3135109" cy="148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4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7037695-1906-2FEE-4C35-781209DA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From accel/gyro to a corrected </a:t>
            </a:r>
            <a:r>
              <a:rPr lang="en-US" dirty="0" err="1"/>
              <a:t>Δz</a:t>
            </a:r>
            <a:endParaRPr lang="en-US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5C46818-6E4E-E401-398E-161A2E2D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51" y="823470"/>
            <a:ext cx="3090978" cy="107370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Obraz 14">
            <a:extLst>
              <a:ext uri="{FF2B5EF4-FFF2-40B4-BE49-F238E27FC236}">
                <a16:creationId xmlns:a16="http://schemas.microsoft.com/office/drawing/2014/main" id="{754D3831-6F57-1516-B695-B696174D2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98" y="2547209"/>
            <a:ext cx="4815529" cy="29735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5DAE7E9-DE11-8632-5C2F-CF376B62D404}"/>
                  </a:ext>
                </a:extLst>
              </p:cNvPr>
              <p:cNvSpPr txBox="1"/>
              <p:nvPr/>
            </p:nvSpPr>
            <p:spPr>
              <a:xfrm>
                <a:off x="5144679" y="2198914"/>
                <a:ext cx="6405063" cy="367018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/>
              <a:p>
                <a:pPr defTabSz="914400">
                  <a:lnSpc>
                    <a:spcPct val="90000"/>
                  </a:lnSpc>
                  <a:spcAft>
                    <a:spcPts val="1200"/>
                  </a:spcAft>
                  <a:buClr>
                    <a:schemeClr val="accent1"/>
                  </a:buClr>
                  <a:buFont typeface="Calibri" panose="020F0502020204030204" pitchFamily="34" charset="0"/>
                  <a:buNone/>
                </a:pPr>
                <a:r>
                  <a:rPr lang="en-US" sz="1700" b="1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IMU Simulator</a:t>
                </a:r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 — synthesises sensor readings from GT transforms:</a:t>
                </a:r>
              </a:p>
              <a:p>
                <a:pPr marL="285750" indent="-285750"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  <a:buChar char="•"/>
                </a:pPr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Accel: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𝑠𝑒𝑛𝑠𝑜𝑟</m:t>
                        </m:r>
                      </m:sub>
                    </m:sSub>
                  </m:oMath>
                </a14:m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= </a:t>
                </a:r>
                <a14:m>
                  <m:oMath xmlns:m="http://schemas.openxmlformats.org/officeDocument/2006/math">
                    <m:r>
                      <a:rPr lang="en-US" sz="1700" b="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700" b="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ᵀ</m:t>
                    </m:r>
                    <m:d>
                      <m:dPr>
                        <m:ctrlP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𝑤𝑜𝑟𝑙𝑑</m:t>
                            </m:r>
                          </m:sub>
                        </m:sSub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1700" b="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where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𝑤𝑜𝑟𝑙𝑑</m:t>
                        </m:r>
                      </m:sub>
                    </m:sSub>
                  </m:oMath>
                </a14:m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 is the world-frame second derivative of position.</a:t>
                </a:r>
              </a:p>
              <a:p>
                <a:pPr marL="285750" indent="-285750"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  <a:buChar char="•"/>
                </a:pPr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Gyro: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𝑏𝑜𝑑𝑦</m:t>
                        </m:r>
                      </m:sub>
                    </m:sSub>
                  </m:oMath>
                </a14:m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700" b="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700" b="0" i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ᵢᵀ · </m:t>
                            </m:r>
                            <m:r>
                              <a:rPr lang="en-US" sz="1700" b="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p>
                              <m:sSupPr>
                                <m:ctrlPr>
                                  <a:rPr lang="en-US" sz="1700" b="0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 b="0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ᵢ</m:t>
                                </m:r>
                              </m:e>
                              <m:sup>
                                <m:r>
                                  <a:rPr lang="en-US" sz="1700" b="0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 / dt (body-frame, not world — earlier bug).</a:t>
                </a:r>
              </a:p>
              <a:p>
                <a:pPr marL="285750" indent="-285750"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  <a:buChar char="•"/>
                </a:pPr>
                <a:r>
                  <a:rPr lang="en-US" sz="17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</a:rPr>
                  <a:t>Adds white noise + random-walk bias + per-axis scale error each call (acts as augmentation).</a:t>
                </a:r>
              </a:p>
              <a:p>
                <a:pPr defTabSz="914400">
                  <a:lnSpc>
                    <a:spcPct val="90000"/>
                  </a:lnSpc>
                  <a:spcAft>
                    <a:spcPts val="1200"/>
                  </a:spcAft>
                  <a:buClr>
                    <a:schemeClr val="accent1"/>
                  </a:buClr>
                  <a:buFont typeface="Calibri" panose="020F0502020204030204" pitchFamily="34" charset="0"/>
                </a:pPr>
                <a:r>
                  <a:rPr lang="en-US" sz="17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Error-State Kalman Filter (Solà 2017)</a:t>
                </a:r>
                <a:r>
                  <a:rPr lang="en-US" sz="17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 — 15-state error vector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𝛿𝜃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700" i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700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</a:t>
                </a:r>
              </a:p>
              <a:p>
                <a:pPr marL="285750" indent="-285750"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  <a:buChar char="•"/>
                </a:pPr>
                <a:r>
                  <a:rPr lang="en-US" sz="17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Predict:</a:t>
                </a:r>
                <a:r>
                  <a:rPr lang="en-US" sz="17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 IMU dead-reckon position/velocity/rotation, propagate covariance with the Jacobian F.</a:t>
                </a:r>
              </a:p>
              <a:p>
                <a:pPr marL="285750" indent="-285750"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  <a:buChar char="•"/>
                </a:pPr>
                <a:r>
                  <a:rPr lang="en-US" sz="17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Update:</a:t>
                </a:r>
                <a:r>
                  <a:rPr lang="en-US" sz="17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 measurement = signed Δz from the visual model with measurement noise σ.</a:t>
                </a:r>
              </a:p>
              <a:p>
                <a:pPr defTabSz="914400">
                  <a:lnSpc>
                    <a:spcPct val="90000"/>
                  </a:lnSpc>
                  <a:buClr>
                    <a:schemeClr val="accent1"/>
                  </a:buClr>
                  <a:buFont typeface="Calibri" panose="020F0502020204030204" pitchFamily="34" charset="0"/>
                </a:pPr>
                <a:endParaRPr lang="en-US" sz="17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5DAE7E9-DE11-8632-5C2F-CF376B62D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679" y="2198914"/>
                <a:ext cx="6405063" cy="3670180"/>
              </a:xfrm>
              <a:prstGeom prst="rect">
                <a:avLst/>
              </a:prstGeom>
              <a:blipFill>
                <a:blip r:embed="rId4"/>
                <a:stretch>
                  <a:fillRect l="-2093" t="-1329" r="-8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2398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02AA88C-4F1F-8628-B873-28C0A5F7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pl-PL" sz="3700" dirty="0"/>
              <a:t>ESKF vs. </a:t>
            </a:r>
            <a:r>
              <a:rPr lang="pl-PL" sz="3700" dirty="0" err="1"/>
              <a:t>Complementary</a:t>
            </a:r>
            <a:r>
              <a:rPr lang="pl-PL" sz="3700" dirty="0"/>
              <a:t> vs. </a:t>
            </a:r>
            <a:r>
              <a:rPr lang="pl-PL" sz="3700" dirty="0" err="1"/>
              <a:t>visual-only</a:t>
            </a:r>
            <a:endParaRPr lang="pl-PL" sz="3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AF951B11-8ED1-D0A2-DFEE-76B2806503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dirty="0"/>
                  <a:t>Built a </a:t>
                </a:r>
                <a:r>
                  <a:rPr lang="pl-PL" dirty="0" err="1"/>
                  <a:t>classical</a:t>
                </a:r>
                <a:r>
                  <a:rPr lang="pl-PL" dirty="0"/>
                  <a:t> </a:t>
                </a:r>
                <a:r>
                  <a:rPr lang="pl-PL" b="1" dirty="0" err="1"/>
                  <a:t>complementary</a:t>
                </a:r>
                <a:r>
                  <a:rPr lang="pl-PL" b="1" dirty="0"/>
                  <a:t> </a:t>
                </a:r>
                <a:r>
                  <a:rPr lang="pl-PL" b="1" dirty="0" err="1"/>
                  <a:t>filter</a:t>
                </a:r>
                <a:r>
                  <a:rPr lang="pl-PL" dirty="0"/>
                  <a:t> as </a:t>
                </a:r>
                <a:r>
                  <a:rPr lang="pl-PL" dirty="0" err="1"/>
                  <a:t>an</a:t>
                </a:r>
                <a:r>
                  <a:rPr lang="pl-PL" dirty="0"/>
                  <a:t> </a:t>
                </a:r>
                <a:r>
                  <a:rPr lang="pl-PL" dirty="0" err="1"/>
                  <a:t>apples</a:t>
                </a:r>
                <a:r>
                  <a:rPr lang="pl-PL" dirty="0"/>
                  <a:t>-to-</a:t>
                </a:r>
                <a:r>
                  <a:rPr lang="pl-PL" dirty="0" err="1"/>
                  <a:t>apples</a:t>
                </a:r>
                <a:r>
                  <a:rPr lang="pl-PL" dirty="0"/>
                  <a:t> </a:t>
                </a:r>
                <a:r>
                  <a:rPr lang="pl-PL" dirty="0" err="1"/>
                  <a:t>baseline</a:t>
                </a:r>
                <a:r>
                  <a:rPr lang="pl-PL" dirty="0"/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l-PL" i="1" dirty="0" smtClean="0">
                            <a:latin typeface="Cambria Math" panose="02040503050406030204" pitchFamily="18" charset="0"/>
                          </a:rPr>
                          <m:t>𝑖𝑚𝑢</m:t>
                        </m:r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pl-P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l-PL" i="1" dirty="0" err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pl-PL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pl-PL" i="1" dirty="0" err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l-PL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𝑣𝑖𝑠</m:t>
                        </m:r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pl-PL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pl-PL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𝑖𝑚𝑢</m:t>
                        </m:r>
                      </m:sub>
                    </m:sSub>
                    <m:r>
                      <a:rPr lang="pl-PL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pl-P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l-GR" i="1" dirty="0"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pl-PL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l-PL" i="1" dirty="0" err="1">
                            <a:latin typeface="Cambria Math" panose="02040503050406030204" pitchFamily="18" charset="0"/>
                          </a:rPr>
                          <m:t>𝑣𝑖𝑠</m:t>
                        </m:r>
                      </m:sub>
                    </m:sSub>
                  </m:oMath>
                </a14:m>
                <a:r>
                  <a:rPr lang="pl-PL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pl-PL" dirty="0"/>
                  <a:t>Ran </a:t>
                </a:r>
                <a:r>
                  <a:rPr lang="pl-PL" dirty="0" err="1"/>
                  <a:t>an</a:t>
                </a:r>
                <a:r>
                  <a:rPr lang="pl-PL" dirty="0"/>
                  <a:t> </a:t>
                </a:r>
                <a:r>
                  <a:rPr lang="pl-PL" dirty="0" err="1"/>
                  <a:t>ablation</a:t>
                </a:r>
                <a:r>
                  <a:rPr lang="pl-PL" dirty="0"/>
                  <a:t> </a:t>
                </a:r>
                <a:r>
                  <a:rPr lang="pl-PL" dirty="0" err="1"/>
                  <a:t>across</a:t>
                </a:r>
                <a:r>
                  <a:rPr lang="pl-PL" dirty="0"/>
                  <a:t> </a:t>
                </a:r>
                <a:r>
                  <a:rPr lang="pl-PL" dirty="0" err="1"/>
                  <a:t>filter</a:t>
                </a:r>
                <a:r>
                  <a:rPr lang="pl-PL" dirty="0"/>
                  <a:t> / </a:t>
                </a:r>
                <a:r>
                  <a:rPr lang="el-GR" dirty="0"/>
                  <a:t>σ / α / </a:t>
                </a:r>
                <a:r>
                  <a:rPr lang="pl-PL" dirty="0"/>
                  <a:t>TTA. </a:t>
                </a:r>
                <a:r>
                  <a:rPr lang="pl-PL" dirty="0" err="1"/>
                  <a:t>Showed</a:t>
                </a:r>
                <a:r>
                  <a:rPr lang="pl-PL" dirty="0"/>
                  <a:t>: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AF951B11-8ED1-D0A2-DFEE-76B2806503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2"/>
                <a:stretch>
                  <a:fillRect t="-1661" r="-214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2061C8-5A3B-C19C-D263-7954C338D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106470"/>
            <a:ext cx="107615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pl-PL" altLang="pl-PL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l-PL" altLang="pl-PL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D1D36E6-10C8-8A52-32B7-981AF381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234629"/>
              </p:ext>
            </p:extLst>
          </p:nvPr>
        </p:nvGraphicFramePr>
        <p:xfrm>
          <a:off x="6247525" y="3603016"/>
          <a:ext cx="5077126" cy="24158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67259">
                  <a:extLst>
                    <a:ext uri="{9D8B030D-6E8A-4147-A177-3AD203B41FA5}">
                      <a16:colId xmlns:a16="http://schemas.microsoft.com/office/drawing/2014/main" val="1957670743"/>
                    </a:ext>
                  </a:extLst>
                </a:gridCol>
                <a:gridCol w="968823">
                  <a:extLst>
                    <a:ext uri="{9D8B030D-6E8A-4147-A177-3AD203B41FA5}">
                      <a16:colId xmlns:a16="http://schemas.microsoft.com/office/drawing/2014/main" val="3150659993"/>
                    </a:ext>
                  </a:extLst>
                </a:gridCol>
                <a:gridCol w="1209190">
                  <a:extLst>
                    <a:ext uri="{9D8B030D-6E8A-4147-A177-3AD203B41FA5}">
                      <a16:colId xmlns:a16="http://schemas.microsoft.com/office/drawing/2014/main" val="2081489483"/>
                    </a:ext>
                  </a:extLst>
                </a:gridCol>
                <a:gridCol w="1131854">
                  <a:extLst>
                    <a:ext uri="{9D8B030D-6E8A-4147-A177-3AD203B41FA5}">
                      <a16:colId xmlns:a16="http://schemas.microsoft.com/office/drawing/2014/main" val="3439309148"/>
                    </a:ext>
                  </a:extLst>
                </a:gridCol>
              </a:tblGrid>
              <a:tr h="37007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Config</a:t>
                      </a:r>
                    </a:p>
                  </a:txBody>
                  <a:tcPr marL="90491" marR="134659" marT="25855" marB="1939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Val MAE</a:t>
                      </a:r>
                    </a:p>
                  </a:txBody>
                  <a:tcPr marL="90491" marR="134659" marT="25855" marB="1939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 dirty="0">
                          <a:solidFill>
                            <a:schemeClr val="tx1"/>
                          </a:solidFill>
                          <a:effectLst/>
                        </a:rPr>
                        <a:t>Global MAE</a:t>
                      </a:r>
                    </a:p>
                  </a:txBody>
                  <a:tcPr marL="90491" marR="134659" marT="25855" marB="1939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Valid scans</a:t>
                      </a:r>
                    </a:p>
                  </a:txBody>
                  <a:tcPr marL="90491" marR="134659" marT="25855" marB="1939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158231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cap="none" spc="0" dirty="0">
                          <a:solidFill>
                            <a:schemeClr val="tx1"/>
                          </a:solidFill>
                          <a:effectLst/>
                        </a:rPr>
                        <a:t>ESKF </a:t>
                      </a:r>
                      <a:r>
                        <a:rPr lang="el-GR" sz="1200" cap="none" spc="0" dirty="0">
                          <a:solidFill>
                            <a:schemeClr val="tx1"/>
                          </a:solidFill>
                          <a:effectLst/>
                        </a:rPr>
                        <a:t>σ = 0.30</a:t>
                      </a:r>
                    </a:p>
                  </a:txBody>
                  <a:tcPr marL="90491" marR="134659" marT="25855" marB="193909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 dirty="0">
                          <a:solidFill>
                            <a:schemeClr val="tx1"/>
                          </a:solidFill>
                          <a:effectLst/>
                        </a:rPr>
                        <a:t>23.67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 dirty="0">
                          <a:solidFill>
                            <a:schemeClr val="tx1"/>
                          </a:solidFill>
                          <a:effectLst/>
                        </a:rPr>
                        <a:t>19.98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 dirty="0">
                          <a:solidFill>
                            <a:schemeClr val="tx1"/>
                          </a:solidFill>
                          <a:effectLst/>
                        </a:rPr>
                        <a:t>1043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262592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ESKF </a:t>
                      </a:r>
                      <a:r>
                        <a:rPr lang="el-GR" sz="1200" cap="none" spc="0">
                          <a:solidFill>
                            <a:schemeClr val="tx1"/>
                          </a:solidFill>
                          <a:effectLst/>
                        </a:rPr>
                        <a:t>σ = 0.10</a:t>
                      </a:r>
                    </a:p>
                  </a:txBody>
                  <a:tcPr marL="90491" marR="134659" marT="25855" marB="193909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16.69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 dirty="0">
                          <a:solidFill>
                            <a:schemeClr val="tx1"/>
                          </a:solidFill>
                          <a:effectLst/>
                        </a:rPr>
                        <a:t>13.48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1189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423014"/>
                  </a:ext>
                </a:extLst>
              </a:tr>
              <a:tr h="3036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Complementary </a:t>
                      </a:r>
                      <a:r>
                        <a:rPr lang="el-GR" sz="1200" cap="none" spc="0">
                          <a:solidFill>
                            <a:schemeClr val="tx1"/>
                          </a:solidFill>
                          <a:effectLst/>
                        </a:rPr>
                        <a:t>α = 0.3</a:t>
                      </a:r>
                    </a:p>
                  </a:txBody>
                  <a:tcPr marL="90491" marR="134659" marT="25855" marB="193909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13.00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10.59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1200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951410"/>
                  </a:ext>
                </a:extLst>
              </a:tr>
              <a:tr h="2547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Visual only</a:t>
                      </a:r>
                    </a:p>
                  </a:txBody>
                  <a:tcPr marL="90491" marR="134659" marT="25855" marB="193909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13.35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11.01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cap="none" spc="0">
                          <a:solidFill>
                            <a:schemeClr val="tx1"/>
                          </a:solidFill>
                          <a:effectLst/>
                        </a:rPr>
                        <a:t>1200</a:t>
                      </a: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1085"/>
                  </a:ext>
                </a:extLst>
              </a:tr>
              <a:tr h="3036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Visual only + hflip TTA</a:t>
                      </a:r>
                      <a:endParaRPr lang="pl-P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0491" marR="134659" marT="25855" marB="193909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13.76</a:t>
                      </a:r>
                      <a:endParaRPr lang="pl-P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>
                          <a:solidFill>
                            <a:schemeClr val="tx1"/>
                          </a:solidFill>
                          <a:effectLst/>
                        </a:rPr>
                        <a:t>10.41</a:t>
                      </a:r>
                      <a:endParaRPr lang="pl-PL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200" b="1" cap="none" spc="0" dirty="0">
                          <a:solidFill>
                            <a:schemeClr val="tx1"/>
                          </a:solidFill>
                          <a:effectLst/>
                        </a:rPr>
                        <a:t>1200</a:t>
                      </a:r>
                      <a:endParaRPr lang="pl-PL" sz="1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0491" marR="134659" marT="25855" marB="1939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992113"/>
                  </a:ext>
                </a:extLst>
              </a:tr>
            </a:tbl>
          </a:graphicData>
        </a:graphic>
      </p:graphicFrame>
      <p:pic>
        <p:nvPicPr>
          <p:cNvPr id="7" name="Obraz 6">
            <a:extLst>
              <a:ext uri="{FF2B5EF4-FFF2-40B4-BE49-F238E27FC236}">
                <a16:creationId xmlns:a16="http://schemas.microsoft.com/office/drawing/2014/main" id="{B6C43684-9C66-C4C3-29CA-8A73367B7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9" y="694818"/>
            <a:ext cx="4066861" cy="517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3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DE93A61-BA80-8DDE-0B13-023791307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pl-PL" dirty="0" err="1"/>
              <a:t>Headline</a:t>
            </a:r>
            <a:r>
              <a:rPr lang="pl-PL" dirty="0"/>
              <a:t> </a:t>
            </a:r>
            <a:r>
              <a:rPr lang="pl-PL" dirty="0" err="1"/>
              <a:t>result</a:t>
            </a:r>
            <a:r>
              <a:rPr lang="pl-PL" dirty="0"/>
              <a:t> and </a:t>
            </a:r>
            <a:r>
              <a:rPr lang="pl-PL" dirty="0" err="1"/>
              <a:t>takeaways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3AC32B0-EBB9-C8AA-26DD-73850F98A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703534"/>
            <a:ext cx="4020297" cy="22312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7709B533-5B39-DCB3-3E2F-D34A935A2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3325461"/>
            <a:ext cx="4020296" cy="2261416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50BD94-62AA-05AA-6D65-8C61A31BF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 fontScale="92500" lnSpcReduction="20000"/>
          </a:bodyPr>
          <a:lstStyle/>
          <a:p>
            <a:r>
              <a:rPr lang="pl-PL" sz="1100" b="1" dirty="0" err="1"/>
              <a:t>Final</a:t>
            </a:r>
            <a:r>
              <a:rPr lang="pl-PL" sz="1100" b="1" dirty="0"/>
              <a:t> </a:t>
            </a:r>
            <a:r>
              <a:rPr lang="pl-PL" sz="1100" b="1" dirty="0" err="1"/>
              <a:t>number</a:t>
            </a:r>
            <a:r>
              <a:rPr lang="pl-PL" sz="1100" b="1" dirty="0"/>
              <a:t>:</a:t>
            </a:r>
            <a:r>
              <a:rPr lang="pl-PL" sz="1100" dirty="0"/>
              <a:t> Visual-</a:t>
            </a:r>
            <a:r>
              <a:rPr lang="pl-PL" sz="1100" dirty="0" err="1"/>
              <a:t>only</a:t>
            </a:r>
            <a:r>
              <a:rPr lang="pl-PL" sz="1100" dirty="0"/>
              <a:t> + </a:t>
            </a:r>
            <a:r>
              <a:rPr lang="pl-PL" sz="1100" dirty="0" err="1"/>
              <a:t>hflip</a:t>
            </a:r>
            <a:r>
              <a:rPr lang="pl-PL" sz="1100" dirty="0"/>
              <a:t> TTA, </a:t>
            </a:r>
            <a:r>
              <a:rPr lang="pl-PL" sz="1100" dirty="0" err="1"/>
              <a:t>pair</a:t>
            </a:r>
            <a:r>
              <a:rPr lang="pl-PL" sz="1100" dirty="0"/>
              <a:t> </a:t>
            </a:r>
            <a:r>
              <a:rPr lang="pl-PL" sz="1100" dirty="0" err="1"/>
              <a:t>encoder</a:t>
            </a:r>
            <a:r>
              <a:rPr lang="pl-PL" sz="1100" dirty="0"/>
              <a:t>, </a:t>
            </a:r>
            <a:r>
              <a:rPr lang="pl-PL" sz="1100" dirty="0" err="1"/>
              <a:t>two-head</a:t>
            </a:r>
            <a:r>
              <a:rPr lang="pl-PL" sz="1100" dirty="0"/>
              <a:t>, </a:t>
            </a:r>
            <a:r>
              <a:rPr lang="pl-PL" sz="1100" dirty="0" err="1"/>
              <a:t>augmentation</a:t>
            </a:r>
            <a:r>
              <a:rPr lang="pl-PL" sz="1100" dirty="0"/>
              <a:t>, 4-epoch </a:t>
            </a:r>
            <a:r>
              <a:rPr lang="pl-PL" sz="1100" dirty="0" err="1"/>
              <a:t>backbone</a:t>
            </a:r>
            <a:r>
              <a:rPr lang="pl-PL" sz="1100" dirty="0"/>
              <a:t> </a:t>
            </a:r>
            <a:r>
              <a:rPr lang="pl-PL" sz="1100" dirty="0" err="1"/>
              <a:t>warmup</a:t>
            </a:r>
            <a:endParaRPr lang="pl-PL" sz="1100" dirty="0"/>
          </a:p>
          <a:p>
            <a:pPr lvl="1"/>
            <a:r>
              <a:rPr lang="pl-PL" sz="1100" b="1" dirty="0"/>
              <a:t>Global MAE 10.41 mm</a:t>
            </a:r>
            <a:r>
              <a:rPr lang="pl-PL" sz="1100" dirty="0"/>
              <a:t> </a:t>
            </a:r>
            <a:r>
              <a:rPr lang="pl-PL" sz="1100" dirty="0" err="1"/>
              <a:t>across</a:t>
            </a:r>
            <a:r>
              <a:rPr lang="pl-PL" sz="1100" dirty="0"/>
              <a:t> 1200 </a:t>
            </a:r>
            <a:r>
              <a:rPr lang="pl-PL" sz="1100" dirty="0" err="1"/>
              <a:t>valid</a:t>
            </a:r>
            <a:r>
              <a:rPr lang="pl-PL" sz="1100" dirty="0"/>
              <a:t> </a:t>
            </a:r>
            <a:r>
              <a:rPr lang="pl-PL" sz="1100" dirty="0" err="1"/>
              <a:t>scans</a:t>
            </a:r>
            <a:endParaRPr lang="pl-PL" sz="1100" dirty="0"/>
          </a:p>
          <a:p>
            <a:pPr lvl="1"/>
            <a:r>
              <a:rPr lang="pl-PL" sz="1100" b="1" dirty="0" err="1"/>
              <a:t>Validation</a:t>
            </a:r>
            <a:r>
              <a:rPr lang="pl-PL" sz="1100" b="1" dirty="0"/>
              <a:t> MAE 13.76 mm</a:t>
            </a:r>
            <a:r>
              <a:rPr lang="pl-PL" sz="1100" dirty="0"/>
              <a:t> </a:t>
            </a:r>
            <a:r>
              <a:rPr lang="pl-PL" sz="1100" dirty="0" err="1"/>
              <a:t>across</a:t>
            </a:r>
            <a:r>
              <a:rPr lang="pl-PL" sz="1100" dirty="0"/>
              <a:t> 12 </a:t>
            </a:r>
            <a:r>
              <a:rPr lang="pl-PL" sz="1100" dirty="0" err="1"/>
              <a:t>stratified</a:t>
            </a:r>
            <a:r>
              <a:rPr lang="pl-PL" sz="1100" dirty="0"/>
              <a:t> </a:t>
            </a:r>
            <a:r>
              <a:rPr lang="pl-PL" sz="1100" dirty="0" err="1"/>
              <a:t>cases</a:t>
            </a:r>
            <a:r>
              <a:rPr lang="pl-PL" sz="1100" dirty="0"/>
              <a:t> (3 </a:t>
            </a:r>
            <a:r>
              <a:rPr lang="pl-PL" sz="1100" dirty="0" err="1"/>
              <a:t>subjects</a:t>
            </a:r>
            <a:r>
              <a:rPr lang="pl-PL" sz="1100" dirty="0"/>
              <a:t> × 4)</a:t>
            </a:r>
          </a:p>
          <a:p>
            <a:pPr lvl="1"/>
            <a:r>
              <a:rPr lang="pl-PL" sz="1100" b="1" dirty="0"/>
              <a:t>Per-</a:t>
            </a:r>
            <a:r>
              <a:rPr lang="pl-PL" sz="1100" b="1" dirty="0" err="1"/>
              <a:t>frame</a:t>
            </a:r>
            <a:r>
              <a:rPr lang="pl-PL" sz="1100" b="1" dirty="0"/>
              <a:t> MAE 0.124 mm</a:t>
            </a:r>
            <a:endParaRPr lang="pl-PL" sz="1100" dirty="0"/>
          </a:p>
          <a:p>
            <a:r>
              <a:rPr lang="pl-PL" sz="1100" b="1" dirty="0" err="1"/>
              <a:t>What</a:t>
            </a:r>
            <a:r>
              <a:rPr lang="pl-PL" sz="1100" b="1" dirty="0"/>
              <a:t> </a:t>
            </a:r>
            <a:r>
              <a:rPr lang="pl-PL" sz="1100" b="1" dirty="0" err="1"/>
              <a:t>made</a:t>
            </a:r>
            <a:r>
              <a:rPr lang="pl-PL" sz="1100" b="1" dirty="0"/>
              <a:t> the </a:t>
            </a:r>
            <a:r>
              <a:rPr lang="pl-PL" sz="1100" b="1" dirty="0" err="1"/>
              <a:t>difference</a:t>
            </a:r>
            <a:r>
              <a:rPr lang="pl-PL" sz="1100" b="1" dirty="0"/>
              <a:t> (</a:t>
            </a:r>
            <a:r>
              <a:rPr lang="pl-PL" sz="1100" b="1" dirty="0" err="1"/>
              <a:t>ranked</a:t>
            </a:r>
            <a:r>
              <a:rPr lang="pl-PL" sz="1100" b="1" dirty="0"/>
              <a:t>):</a:t>
            </a:r>
            <a:endParaRPr lang="pl-PL" sz="1100" dirty="0"/>
          </a:p>
          <a:p>
            <a:pPr lvl="1"/>
            <a:r>
              <a:rPr lang="pl-PL" sz="1100" dirty="0" err="1"/>
              <a:t>Frame-pair</a:t>
            </a:r>
            <a:r>
              <a:rPr lang="pl-PL" sz="1100" dirty="0"/>
              <a:t> </a:t>
            </a:r>
            <a:r>
              <a:rPr lang="pl-PL" sz="1100" dirty="0" err="1"/>
              <a:t>motion</a:t>
            </a:r>
            <a:r>
              <a:rPr lang="pl-PL" sz="1100" dirty="0"/>
              <a:t> </a:t>
            </a:r>
            <a:r>
              <a:rPr lang="pl-PL" sz="1100" dirty="0" err="1"/>
              <a:t>encoder</a:t>
            </a:r>
            <a:r>
              <a:rPr lang="pl-PL" sz="1100" dirty="0"/>
              <a:t> (−10 mm in </a:t>
            </a:r>
            <a:r>
              <a:rPr lang="pl-PL" sz="1100" dirty="0" err="1"/>
              <a:t>global</a:t>
            </a:r>
            <a:r>
              <a:rPr lang="pl-PL" sz="1100" dirty="0"/>
              <a:t> MAE vs. per-</a:t>
            </a:r>
            <a:r>
              <a:rPr lang="pl-PL" sz="1100" dirty="0" err="1"/>
              <a:t>frame</a:t>
            </a:r>
            <a:r>
              <a:rPr lang="pl-PL" sz="1100" dirty="0"/>
              <a:t> </a:t>
            </a:r>
            <a:r>
              <a:rPr lang="pl-PL" sz="1100" dirty="0" err="1"/>
              <a:t>baseline</a:t>
            </a:r>
            <a:r>
              <a:rPr lang="pl-PL" sz="1100" dirty="0"/>
              <a:t>)</a:t>
            </a:r>
          </a:p>
          <a:p>
            <a:pPr lvl="1"/>
            <a:r>
              <a:rPr lang="pl-PL" sz="1100" dirty="0" err="1"/>
              <a:t>Two-head</a:t>
            </a:r>
            <a:r>
              <a:rPr lang="pl-PL" sz="1100" dirty="0"/>
              <a:t> </a:t>
            </a:r>
            <a:r>
              <a:rPr lang="pl-PL" sz="1100" dirty="0" err="1"/>
              <a:t>sign</a:t>
            </a:r>
            <a:r>
              <a:rPr lang="pl-PL" sz="1100" dirty="0"/>
              <a:t> </a:t>
            </a:r>
            <a:r>
              <a:rPr lang="pl-PL" sz="1100" dirty="0" err="1"/>
              <a:t>decoupling</a:t>
            </a:r>
            <a:r>
              <a:rPr lang="pl-PL" sz="1100" dirty="0"/>
              <a:t> (</a:t>
            </a:r>
            <a:r>
              <a:rPr lang="pl-PL" sz="1100" dirty="0" err="1"/>
              <a:t>fixed</a:t>
            </a:r>
            <a:r>
              <a:rPr lang="pl-PL" sz="1100" dirty="0"/>
              <a:t> </a:t>
            </a:r>
            <a:r>
              <a:rPr lang="pl-PL" sz="1100" dirty="0" err="1"/>
              <a:t>direction</a:t>
            </a:r>
            <a:r>
              <a:rPr lang="pl-PL" sz="1100" dirty="0"/>
              <a:t> </a:t>
            </a:r>
            <a:r>
              <a:rPr lang="pl-PL" sz="1100" dirty="0" err="1"/>
              <a:t>failures</a:t>
            </a:r>
            <a:r>
              <a:rPr lang="pl-PL" sz="1100" dirty="0"/>
              <a:t> on *_</a:t>
            </a:r>
            <a:r>
              <a:rPr lang="pl-PL" sz="1100" dirty="0" err="1"/>
              <a:t>L_DtP</a:t>
            </a:r>
            <a:r>
              <a:rPr lang="pl-PL" sz="1100" dirty="0"/>
              <a:t>)</a:t>
            </a:r>
          </a:p>
          <a:p>
            <a:pPr lvl="1"/>
            <a:r>
              <a:rPr lang="pl-PL" sz="1100" dirty="0" err="1"/>
              <a:t>Sequence</a:t>
            </a:r>
            <a:r>
              <a:rPr lang="pl-PL" sz="1100" dirty="0"/>
              <a:t> </a:t>
            </a:r>
            <a:r>
              <a:rPr lang="pl-PL" sz="1100" dirty="0" err="1"/>
              <a:t>augmentation</a:t>
            </a:r>
            <a:r>
              <a:rPr lang="pl-PL" sz="1100" dirty="0"/>
              <a:t> + 4-epoch </a:t>
            </a:r>
            <a:r>
              <a:rPr lang="pl-PL" sz="1100" dirty="0" err="1"/>
              <a:t>backbone</a:t>
            </a:r>
            <a:r>
              <a:rPr lang="pl-PL" sz="1100" dirty="0"/>
              <a:t> </a:t>
            </a:r>
            <a:r>
              <a:rPr lang="pl-PL" sz="1100" dirty="0" err="1"/>
              <a:t>warmup</a:t>
            </a:r>
            <a:r>
              <a:rPr lang="pl-PL" sz="1100" dirty="0"/>
              <a:t> (</a:t>
            </a:r>
            <a:r>
              <a:rPr lang="pl-PL" sz="1100" dirty="0" err="1"/>
              <a:t>closed</a:t>
            </a:r>
            <a:r>
              <a:rPr lang="pl-PL" sz="1100" dirty="0"/>
              <a:t> </a:t>
            </a:r>
            <a:r>
              <a:rPr lang="pl-PL" sz="1100" dirty="0" err="1"/>
              <a:t>train</a:t>
            </a:r>
            <a:r>
              <a:rPr lang="pl-PL" sz="1100" dirty="0"/>
              <a:t>/</a:t>
            </a:r>
            <a:r>
              <a:rPr lang="pl-PL" sz="1100" dirty="0" err="1"/>
              <a:t>val</a:t>
            </a:r>
            <a:r>
              <a:rPr lang="pl-PL" sz="1100" dirty="0"/>
              <a:t> gap)</a:t>
            </a:r>
          </a:p>
          <a:p>
            <a:pPr lvl="1"/>
            <a:r>
              <a:rPr lang="pl-PL" sz="1100" dirty="0"/>
              <a:t>Best-by-</a:t>
            </a:r>
            <a:r>
              <a:rPr lang="pl-PL" sz="1100" dirty="0" err="1"/>
              <a:t>val</a:t>
            </a:r>
            <a:r>
              <a:rPr lang="pl-PL" sz="1100" dirty="0"/>
              <a:t>-MAE checkpoint </a:t>
            </a:r>
            <a:r>
              <a:rPr lang="pl-PL" sz="1100" dirty="0" err="1"/>
              <a:t>selection</a:t>
            </a:r>
            <a:endParaRPr lang="pl-PL" sz="1100" dirty="0"/>
          </a:p>
          <a:p>
            <a:r>
              <a:rPr lang="pl-PL" sz="1100" b="1" dirty="0" err="1"/>
              <a:t>Negative</a:t>
            </a:r>
            <a:r>
              <a:rPr lang="pl-PL" sz="1100" b="1" dirty="0"/>
              <a:t> </a:t>
            </a:r>
            <a:r>
              <a:rPr lang="pl-PL" sz="1100" b="1" dirty="0" err="1"/>
              <a:t>results</a:t>
            </a:r>
            <a:r>
              <a:rPr lang="pl-PL" sz="1100" b="1" dirty="0"/>
              <a:t> </a:t>
            </a:r>
            <a:r>
              <a:rPr lang="pl-PL" sz="1100" b="1" dirty="0" err="1"/>
              <a:t>worth</a:t>
            </a:r>
            <a:r>
              <a:rPr lang="pl-PL" sz="1100" b="1" dirty="0"/>
              <a:t> </a:t>
            </a:r>
            <a:r>
              <a:rPr lang="pl-PL" sz="1100" b="1" dirty="0" err="1"/>
              <a:t>reporting</a:t>
            </a:r>
            <a:r>
              <a:rPr lang="pl-PL" sz="1100" b="1" dirty="0"/>
              <a:t>:</a:t>
            </a:r>
            <a:endParaRPr lang="pl-PL" sz="1100" dirty="0"/>
          </a:p>
          <a:p>
            <a:pPr lvl="1"/>
            <a:r>
              <a:rPr lang="pl-PL" sz="1100" dirty="0"/>
              <a:t>Multi-step </a:t>
            </a:r>
            <a:r>
              <a:rPr lang="pl-PL" sz="1100" dirty="0" err="1"/>
              <a:t>supervision</a:t>
            </a:r>
            <a:r>
              <a:rPr lang="pl-PL" sz="1100" dirty="0"/>
              <a:t> (</a:t>
            </a:r>
            <a:r>
              <a:rPr lang="pl-PL" sz="1100" dirty="0" err="1"/>
              <a:t>predict</a:t>
            </a:r>
            <a:r>
              <a:rPr lang="pl-PL" sz="1100" dirty="0"/>
              <a:t> </a:t>
            </a:r>
            <a:r>
              <a:rPr lang="pl-PL" sz="1100" dirty="0" err="1"/>
              <a:t>every</a:t>
            </a:r>
            <a:r>
              <a:rPr lang="pl-PL" sz="1100" dirty="0"/>
              <a:t> </a:t>
            </a:r>
            <a:r>
              <a:rPr lang="pl-PL" sz="1100" dirty="0" err="1"/>
              <a:t>position</a:t>
            </a:r>
            <a:r>
              <a:rPr lang="pl-PL" sz="1100" dirty="0"/>
              <a:t>) — </a:t>
            </a:r>
            <a:r>
              <a:rPr lang="pl-PL" sz="1100" dirty="0" err="1"/>
              <a:t>capacity</a:t>
            </a:r>
            <a:r>
              <a:rPr lang="pl-PL" sz="1100" dirty="0"/>
              <a:t> </a:t>
            </a:r>
            <a:r>
              <a:rPr lang="pl-PL" sz="1100" dirty="0" err="1"/>
              <a:t>drains</a:t>
            </a:r>
            <a:r>
              <a:rPr lang="pl-PL" sz="1100" dirty="0"/>
              <a:t> </a:t>
            </a:r>
            <a:r>
              <a:rPr lang="pl-PL" sz="1100" dirty="0" err="1"/>
              <a:t>away</a:t>
            </a:r>
            <a:r>
              <a:rPr lang="pl-PL" sz="1100" dirty="0"/>
              <a:t> from the </a:t>
            </a:r>
            <a:r>
              <a:rPr lang="pl-PL" sz="1100" dirty="0" err="1"/>
              <a:t>position</a:t>
            </a:r>
            <a:r>
              <a:rPr lang="pl-PL" sz="1100" dirty="0"/>
              <a:t> we </a:t>
            </a:r>
            <a:r>
              <a:rPr lang="pl-PL" sz="1100" dirty="0" err="1"/>
              <a:t>actually</a:t>
            </a:r>
            <a:r>
              <a:rPr lang="pl-PL" sz="1100" dirty="0"/>
              <a:t> </a:t>
            </a:r>
            <a:r>
              <a:rPr lang="pl-PL" sz="1100" dirty="0" err="1"/>
              <a:t>use</a:t>
            </a:r>
            <a:r>
              <a:rPr lang="pl-PL" sz="1100" dirty="0"/>
              <a:t>.</a:t>
            </a:r>
          </a:p>
          <a:p>
            <a:pPr lvl="1"/>
            <a:r>
              <a:rPr lang="pl-PL" sz="1100" dirty="0"/>
              <a:t>15-state ESKF on </a:t>
            </a:r>
            <a:r>
              <a:rPr lang="pl-PL" sz="1100" dirty="0" err="1"/>
              <a:t>simulated</a:t>
            </a:r>
            <a:r>
              <a:rPr lang="pl-PL" sz="1100" dirty="0"/>
              <a:t> IMU — </a:t>
            </a:r>
            <a:r>
              <a:rPr lang="pl-PL" sz="1100" dirty="0" err="1"/>
              <a:t>actively</a:t>
            </a:r>
            <a:r>
              <a:rPr lang="pl-PL" sz="1100" dirty="0"/>
              <a:t> </a:t>
            </a:r>
            <a:r>
              <a:rPr lang="pl-PL" sz="1100" dirty="0" err="1"/>
              <a:t>degrades</a:t>
            </a:r>
            <a:r>
              <a:rPr lang="pl-PL" sz="1100" dirty="0"/>
              <a:t> </a:t>
            </a:r>
            <a:r>
              <a:rPr lang="pl-PL" sz="1100" dirty="0" err="1"/>
              <a:t>trajectories</a:t>
            </a:r>
            <a:r>
              <a:rPr lang="pl-PL" sz="1100" dirty="0"/>
              <a:t> </a:t>
            </a:r>
            <a:r>
              <a:rPr lang="pl-PL" sz="1100" dirty="0" err="1"/>
              <a:t>at</a:t>
            </a:r>
            <a:r>
              <a:rPr lang="pl-PL" sz="1100" dirty="0"/>
              <a:t> </a:t>
            </a:r>
            <a:r>
              <a:rPr lang="pl-PL" sz="1100" dirty="0" err="1"/>
              <a:t>recommended</a:t>
            </a:r>
            <a:r>
              <a:rPr lang="pl-PL" sz="1100" dirty="0"/>
              <a:t> </a:t>
            </a:r>
            <a:r>
              <a:rPr lang="el-GR" sz="1100" dirty="0"/>
              <a:t>σ.</a:t>
            </a:r>
          </a:p>
          <a:p>
            <a:pPr lvl="1"/>
            <a:r>
              <a:rPr lang="pl-PL" sz="1100" dirty="0" err="1"/>
              <a:t>Trajectory</a:t>
            </a:r>
            <a:r>
              <a:rPr lang="pl-PL" sz="1100" dirty="0"/>
              <a:t> </a:t>
            </a:r>
            <a:r>
              <a:rPr lang="pl-PL" sz="1100" dirty="0" err="1"/>
              <a:t>smoothing</a:t>
            </a:r>
            <a:r>
              <a:rPr lang="pl-PL" sz="1100" dirty="0"/>
              <a:t> — </a:t>
            </a:r>
            <a:r>
              <a:rPr lang="pl-PL" sz="1100" dirty="0" err="1"/>
              <a:t>null</a:t>
            </a:r>
            <a:r>
              <a:rPr lang="pl-PL" sz="1100" dirty="0"/>
              <a:t> </a:t>
            </a:r>
            <a:r>
              <a:rPr lang="pl-PL" sz="1100" dirty="0" err="1"/>
              <a:t>result</a:t>
            </a:r>
            <a:r>
              <a:rPr lang="pl-PL" sz="1100" dirty="0"/>
              <a:t>; </a:t>
            </a:r>
            <a:r>
              <a:rPr lang="pl-PL" sz="1100" dirty="0" err="1"/>
              <a:t>failure</a:t>
            </a:r>
            <a:r>
              <a:rPr lang="pl-PL" sz="1100" dirty="0"/>
              <a:t> </a:t>
            </a:r>
            <a:r>
              <a:rPr lang="pl-PL" sz="1100" dirty="0" err="1"/>
              <a:t>cases</a:t>
            </a:r>
            <a:r>
              <a:rPr lang="pl-PL" sz="1100" dirty="0"/>
              <a:t> </a:t>
            </a:r>
            <a:r>
              <a:rPr lang="pl-PL" sz="1100" dirty="0" err="1"/>
              <a:t>aren't</a:t>
            </a:r>
            <a:r>
              <a:rPr lang="pl-PL" sz="1100" dirty="0"/>
              <a:t> </a:t>
            </a:r>
            <a:r>
              <a:rPr lang="pl-PL" sz="1100" dirty="0" err="1"/>
              <a:t>spiky</a:t>
            </a:r>
            <a:r>
              <a:rPr lang="pl-PL" sz="1100" dirty="0"/>
              <a:t> </a:t>
            </a:r>
            <a:r>
              <a:rPr lang="pl-PL" sz="1100" dirty="0" err="1"/>
              <a:t>noise</a:t>
            </a:r>
            <a:r>
              <a:rPr lang="pl-PL" sz="1100" dirty="0"/>
              <a:t>.</a:t>
            </a:r>
          </a:p>
          <a:p>
            <a:r>
              <a:rPr lang="pl-PL" sz="1100" b="1" dirty="0" err="1"/>
              <a:t>Next</a:t>
            </a:r>
            <a:r>
              <a:rPr lang="pl-PL" sz="1100" b="1" dirty="0"/>
              <a:t> </a:t>
            </a:r>
            <a:r>
              <a:rPr lang="pl-PL" sz="1100" b="1" dirty="0" err="1"/>
              <a:t>steps</a:t>
            </a:r>
            <a:r>
              <a:rPr lang="pl-PL" sz="1100" b="1" dirty="0"/>
              <a:t>:</a:t>
            </a:r>
            <a:endParaRPr lang="pl-PL" sz="1100" dirty="0"/>
          </a:p>
          <a:p>
            <a:pPr lvl="1"/>
            <a:r>
              <a:rPr lang="pl-PL" sz="1100" dirty="0"/>
              <a:t>Real IMU </a:t>
            </a:r>
            <a:r>
              <a:rPr lang="pl-PL" sz="1100" dirty="0" err="1"/>
              <a:t>stream</a:t>
            </a:r>
            <a:r>
              <a:rPr lang="pl-PL" sz="1100" dirty="0"/>
              <a:t> (drop-in via </a:t>
            </a:r>
            <a:r>
              <a:rPr lang="pl-PL" sz="1100" dirty="0" err="1"/>
              <a:t>IMUSimulator</a:t>
            </a:r>
            <a:r>
              <a:rPr lang="pl-PL" sz="1100" dirty="0"/>
              <a:t> </a:t>
            </a:r>
            <a:r>
              <a:rPr lang="pl-PL" sz="1100" dirty="0" err="1"/>
              <a:t>interface</a:t>
            </a:r>
            <a:r>
              <a:rPr lang="pl-PL" sz="1100" dirty="0"/>
              <a:t>).</a:t>
            </a:r>
          </a:p>
          <a:p>
            <a:pPr lvl="1"/>
            <a:r>
              <a:rPr lang="pl-PL" sz="1100" dirty="0"/>
              <a:t>6-DOF </a:t>
            </a:r>
            <a:r>
              <a:rPr lang="pl-PL" sz="1100" dirty="0" err="1"/>
              <a:t>prediction</a:t>
            </a:r>
            <a:r>
              <a:rPr lang="pl-PL" sz="1100" dirty="0"/>
              <a:t> </a:t>
            </a:r>
            <a:r>
              <a:rPr lang="pl-PL" sz="1100" dirty="0" err="1"/>
              <a:t>instead</a:t>
            </a:r>
            <a:r>
              <a:rPr lang="pl-PL" sz="1100" dirty="0"/>
              <a:t> of </a:t>
            </a:r>
            <a:r>
              <a:rPr lang="pl-PL" sz="1100" dirty="0" err="1"/>
              <a:t>monovariate</a:t>
            </a:r>
            <a:r>
              <a:rPr lang="pl-PL" sz="1100" dirty="0"/>
              <a:t> </a:t>
            </a:r>
            <a:r>
              <a:rPr lang="el-GR" sz="1100" dirty="0"/>
              <a:t>Δ</a:t>
            </a:r>
            <a:r>
              <a:rPr lang="pl-PL" sz="1100" dirty="0"/>
              <a:t>z.</a:t>
            </a:r>
          </a:p>
          <a:p>
            <a:pPr lvl="1"/>
            <a:r>
              <a:rPr lang="pl-PL" sz="1100" dirty="0" err="1"/>
              <a:t>Investigate</a:t>
            </a:r>
            <a:r>
              <a:rPr lang="pl-PL" sz="1100" dirty="0"/>
              <a:t> the </a:t>
            </a:r>
            <a:r>
              <a:rPr lang="pl-PL" sz="1100" dirty="0" err="1"/>
              <a:t>systematic</a:t>
            </a:r>
            <a:r>
              <a:rPr lang="pl-PL" sz="1100" dirty="0"/>
              <a:t> </a:t>
            </a:r>
            <a:r>
              <a:rPr lang="pl-PL" sz="1100" dirty="0" err="1"/>
              <a:t>outlier</a:t>
            </a:r>
            <a:r>
              <a:rPr lang="pl-PL" sz="1100" dirty="0"/>
              <a:t> 052/</a:t>
            </a:r>
            <a:r>
              <a:rPr lang="pl-PL" sz="1100" dirty="0" err="1"/>
              <a:t>Par_C_PtD</a:t>
            </a:r>
            <a:r>
              <a:rPr lang="pl-PL" sz="1100" dirty="0"/>
              <a:t>.</a:t>
            </a:r>
          </a:p>
          <a:p>
            <a:endParaRPr lang="pl-PL" sz="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53875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</TotalTime>
  <Words>1183</Words>
  <Application>Microsoft Office PowerPoint</Application>
  <PresentationFormat>Panoramiczny</PresentationFormat>
  <Paragraphs>99</Paragraphs>
  <Slides>12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 Math</vt:lpstr>
      <vt:lpstr>Retrospekcja</vt:lpstr>
      <vt:lpstr>Trackerless 3D Ultrasound Reconstruction via Visual–Inertial Fusion</vt:lpstr>
      <vt:lpstr>What makes trackerless reconstruction hard</vt:lpstr>
      <vt:lpstr>TUS-REC2024 dataset &amp; supervision signal</vt:lpstr>
      <vt:lpstr>End-to-end pipeline</vt:lpstr>
      <vt:lpstr>How the model sees each frame</vt:lpstr>
      <vt:lpstr>Making motion explicit, before the temporal block</vt:lpstr>
      <vt:lpstr>How temporal context is mixed</vt:lpstr>
      <vt:lpstr>Decoupling magnitude and sign</vt:lpstr>
      <vt:lpstr>Motion-weighted L1 + masked sign BCE</vt:lpstr>
      <vt:lpstr>From accel/gyro to a corrected Δz</vt:lpstr>
      <vt:lpstr>ESKF vs. Complementary vs. visual-only</vt:lpstr>
      <vt:lpstr>Headline result and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Dmytro Yesyp</dc:creator>
  <cp:lastModifiedBy>Dmytro Yesyp</cp:lastModifiedBy>
  <cp:revision>6</cp:revision>
  <dcterms:created xsi:type="dcterms:W3CDTF">2026-05-16T20:37:12Z</dcterms:created>
  <dcterms:modified xsi:type="dcterms:W3CDTF">2026-05-17T22:25:08Z</dcterms:modified>
</cp:coreProperties>
</file>