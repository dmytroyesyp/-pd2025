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70" r:id="rId4"/>
    <p:sldId id="271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4E4A47-D131-48E4-AA02-2F18155BB76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08452F9-F81E-432C-B0F7-147EA687780E}">
      <dgm:prSet/>
      <dgm:spPr/>
      <dgm:t>
        <a:bodyPr/>
        <a:lstStyle/>
        <a:p>
          <a:r>
            <a:rPr lang="pl-PL" b="1" noProof="0" dirty="0"/>
            <a:t>Problem:</a:t>
          </a:r>
          <a:r>
            <a:rPr lang="pl-PL" noProof="0" dirty="0"/>
            <a:t> Obrazowanie 2D to tylko płaskie "plastry" anatomii. Pełny obraz 3D wymaga </a:t>
          </a:r>
          <a:r>
            <a:rPr lang="pl-PL" b="1" noProof="0" dirty="0"/>
            <a:t>drogich i nieporęcznych czujników zewnętrznych</a:t>
          </a:r>
          <a:r>
            <a:rPr lang="pl-PL" noProof="0" dirty="0"/>
            <a:t>, co ogranicza dostępność tej technologii.</a:t>
          </a:r>
        </a:p>
      </dgm:t>
    </dgm:pt>
    <dgm:pt modelId="{31A230AD-DFA2-4775-944E-B4BE60F1AA67}" type="parTrans" cxnId="{2B6C4140-9BCD-449B-82A6-E968FB8C9F8E}">
      <dgm:prSet/>
      <dgm:spPr/>
      <dgm:t>
        <a:bodyPr/>
        <a:lstStyle/>
        <a:p>
          <a:endParaRPr lang="en-US"/>
        </a:p>
      </dgm:t>
    </dgm:pt>
    <dgm:pt modelId="{77991C88-24EC-4738-879D-6F622DFDF2E7}" type="sibTrans" cxnId="{2B6C4140-9BCD-449B-82A6-E968FB8C9F8E}">
      <dgm:prSet/>
      <dgm:spPr/>
      <dgm:t>
        <a:bodyPr/>
        <a:lstStyle/>
        <a:p>
          <a:endParaRPr lang="en-US"/>
        </a:p>
      </dgm:t>
    </dgm:pt>
    <dgm:pt modelId="{8EA7B4AA-86E3-440D-BB1D-F5299338774C}">
      <dgm:prSet/>
      <dgm:spPr/>
      <dgm:t>
        <a:bodyPr/>
        <a:lstStyle/>
        <a:p>
          <a:r>
            <a:rPr lang="pl-PL" b="1" noProof="0" dirty="0"/>
            <a:t>Cel:</a:t>
          </a:r>
          <a:r>
            <a:rPr lang="pl-PL" noProof="0" dirty="0"/>
            <a:t> Opracowanie algorytmu do </a:t>
          </a:r>
          <a:r>
            <a:rPr lang="pl-PL" b="1" noProof="0" dirty="0"/>
            <a:t>precyzyjnego śledzenia ruchu 3D głowicy USG</a:t>
          </a:r>
          <a:r>
            <a:rPr lang="pl-PL" noProof="0" dirty="0"/>
            <a:t>, eliminując potrzebę stosowania dodatkowego, kosztownego sprzętu.</a:t>
          </a:r>
        </a:p>
      </dgm:t>
    </dgm:pt>
    <dgm:pt modelId="{2FDF1A20-F1AB-4592-ACE0-35771E9F063D}" type="parTrans" cxnId="{5769490F-C6AA-4BC4-8F27-F1F77D04B795}">
      <dgm:prSet/>
      <dgm:spPr/>
      <dgm:t>
        <a:bodyPr/>
        <a:lstStyle/>
        <a:p>
          <a:endParaRPr lang="en-US"/>
        </a:p>
      </dgm:t>
    </dgm:pt>
    <dgm:pt modelId="{961EF4EB-551D-43A8-840D-FFAAF1524594}" type="sibTrans" cxnId="{5769490F-C6AA-4BC4-8F27-F1F77D04B795}">
      <dgm:prSet/>
      <dgm:spPr/>
      <dgm:t>
        <a:bodyPr/>
        <a:lstStyle/>
        <a:p>
          <a:endParaRPr lang="en-US"/>
        </a:p>
      </dgm:t>
    </dgm:pt>
    <dgm:pt modelId="{3541DDCD-5270-4765-8E1D-9AC29654A2CD}" type="pres">
      <dgm:prSet presAssocID="{924E4A47-D131-48E4-AA02-2F18155BB76D}" presName="linear" presStyleCnt="0">
        <dgm:presLayoutVars>
          <dgm:animLvl val="lvl"/>
          <dgm:resizeHandles val="exact"/>
        </dgm:presLayoutVars>
      </dgm:prSet>
      <dgm:spPr/>
    </dgm:pt>
    <dgm:pt modelId="{E4D9F984-6683-4014-AD0C-23287F2C85F2}" type="pres">
      <dgm:prSet presAssocID="{008452F9-F81E-432C-B0F7-147EA687780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E6622E7-28BE-436A-8646-2EF50D2BDC16}" type="pres">
      <dgm:prSet presAssocID="{77991C88-24EC-4738-879D-6F622DFDF2E7}" presName="spacer" presStyleCnt="0"/>
      <dgm:spPr/>
    </dgm:pt>
    <dgm:pt modelId="{1A0C06DD-6EA5-47D9-80ED-4D935AD790FE}" type="pres">
      <dgm:prSet presAssocID="{8EA7B4AA-86E3-440D-BB1D-F5299338774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769490F-C6AA-4BC4-8F27-F1F77D04B795}" srcId="{924E4A47-D131-48E4-AA02-2F18155BB76D}" destId="{8EA7B4AA-86E3-440D-BB1D-F5299338774C}" srcOrd="1" destOrd="0" parTransId="{2FDF1A20-F1AB-4592-ACE0-35771E9F063D}" sibTransId="{961EF4EB-551D-43A8-840D-FFAAF1524594}"/>
    <dgm:cxn modelId="{82DC800F-2ABD-4155-9EB5-FF67DAC67F1E}" type="presOf" srcId="{8EA7B4AA-86E3-440D-BB1D-F5299338774C}" destId="{1A0C06DD-6EA5-47D9-80ED-4D935AD790FE}" srcOrd="0" destOrd="0" presId="urn:microsoft.com/office/officeart/2005/8/layout/vList2"/>
    <dgm:cxn modelId="{24F2AB3B-51BA-4DBB-81CD-5408782EA364}" type="presOf" srcId="{924E4A47-D131-48E4-AA02-2F18155BB76D}" destId="{3541DDCD-5270-4765-8E1D-9AC29654A2CD}" srcOrd="0" destOrd="0" presId="urn:microsoft.com/office/officeart/2005/8/layout/vList2"/>
    <dgm:cxn modelId="{2B6C4140-9BCD-449B-82A6-E968FB8C9F8E}" srcId="{924E4A47-D131-48E4-AA02-2F18155BB76D}" destId="{008452F9-F81E-432C-B0F7-147EA687780E}" srcOrd="0" destOrd="0" parTransId="{31A230AD-DFA2-4775-944E-B4BE60F1AA67}" sibTransId="{77991C88-24EC-4738-879D-6F622DFDF2E7}"/>
    <dgm:cxn modelId="{4E94EE56-A61D-4B4F-B43B-AFE3B28952FE}" type="presOf" srcId="{008452F9-F81E-432C-B0F7-147EA687780E}" destId="{E4D9F984-6683-4014-AD0C-23287F2C85F2}" srcOrd="0" destOrd="0" presId="urn:microsoft.com/office/officeart/2005/8/layout/vList2"/>
    <dgm:cxn modelId="{559AF27A-86B0-4A98-8428-B6153C9455DE}" type="presParOf" srcId="{3541DDCD-5270-4765-8E1D-9AC29654A2CD}" destId="{E4D9F984-6683-4014-AD0C-23287F2C85F2}" srcOrd="0" destOrd="0" presId="urn:microsoft.com/office/officeart/2005/8/layout/vList2"/>
    <dgm:cxn modelId="{B22C0FBE-B5A3-4019-A755-A59281442704}" type="presParOf" srcId="{3541DDCD-5270-4765-8E1D-9AC29654A2CD}" destId="{3E6622E7-28BE-436A-8646-2EF50D2BDC16}" srcOrd="1" destOrd="0" presId="urn:microsoft.com/office/officeart/2005/8/layout/vList2"/>
    <dgm:cxn modelId="{E6F355D7-3957-4B85-AF43-512DD365D68E}" type="presParOf" srcId="{3541DDCD-5270-4765-8E1D-9AC29654A2CD}" destId="{1A0C06DD-6EA5-47D9-80ED-4D935AD790F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D9F984-6683-4014-AD0C-23287F2C85F2}">
      <dsp:nvSpPr>
        <dsp:cNvPr id="0" name=""/>
        <dsp:cNvSpPr/>
      </dsp:nvSpPr>
      <dsp:spPr>
        <a:xfrm>
          <a:off x="0" y="103876"/>
          <a:ext cx="1024689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b="1" kern="1200" noProof="0" dirty="0"/>
            <a:t>Problem:</a:t>
          </a:r>
          <a:r>
            <a:rPr lang="pl-PL" sz="2100" kern="1200" noProof="0" dirty="0"/>
            <a:t> Obrazowanie 2D to tylko płaskie "plastry" anatomii. Pełny obraz 3D wymaga </a:t>
          </a:r>
          <a:r>
            <a:rPr lang="pl-PL" sz="2100" b="1" kern="1200" noProof="0" dirty="0"/>
            <a:t>drogich i nieporęcznych czujników zewnętrznych</a:t>
          </a:r>
          <a:r>
            <a:rPr lang="pl-PL" sz="2100" kern="1200" noProof="0" dirty="0"/>
            <a:t>, co ogranicza dostępność tej technologii.</a:t>
          </a:r>
        </a:p>
      </dsp:txBody>
      <dsp:txXfrm>
        <a:off x="40780" y="144656"/>
        <a:ext cx="10165335" cy="753819"/>
      </dsp:txXfrm>
    </dsp:sp>
    <dsp:sp modelId="{1A0C06DD-6EA5-47D9-80ED-4D935AD790FE}">
      <dsp:nvSpPr>
        <dsp:cNvPr id="0" name=""/>
        <dsp:cNvSpPr/>
      </dsp:nvSpPr>
      <dsp:spPr>
        <a:xfrm>
          <a:off x="0" y="999736"/>
          <a:ext cx="1024689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b="1" kern="1200" noProof="0" dirty="0"/>
            <a:t>Cel:</a:t>
          </a:r>
          <a:r>
            <a:rPr lang="pl-PL" sz="2100" kern="1200" noProof="0" dirty="0"/>
            <a:t> Opracowanie algorytmu do </a:t>
          </a:r>
          <a:r>
            <a:rPr lang="pl-PL" sz="2100" b="1" kern="1200" noProof="0" dirty="0"/>
            <a:t>precyzyjnego śledzenia ruchu 3D głowicy USG</a:t>
          </a:r>
          <a:r>
            <a:rPr lang="pl-PL" sz="2100" kern="1200" noProof="0" dirty="0"/>
            <a:t>, eliminując potrzebę stosowania dodatkowego, kosztownego sprzętu.</a:t>
          </a:r>
        </a:p>
      </dsp:txBody>
      <dsp:txXfrm>
        <a:off x="40780" y="1040516"/>
        <a:ext cx="10165335" cy="75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17.01.2026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342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17.01.2026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804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17.01.2026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826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17.01.2026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8580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17.01.2026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1155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17.01.2026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614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17.01.2026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16915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2FA4418-1658-486A-96C0-28BB366A6000}" type="datetimeFigureOut">
              <a:rPr lang="pl-PL" smtClean="0"/>
              <a:t>17.01.2026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80823D-0F3B-44FF-B5D8-82C8FFDCFA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206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17.01.2026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1502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17.01.2026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0506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17.01.2026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963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2FA4418-1658-486A-96C0-28BB366A6000}" type="datetimeFigureOut">
              <a:rPr lang="pl-PL" smtClean="0"/>
              <a:t>17.01.2026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380823D-0F3B-44FF-B5D8-82C8FFDCFA78}" type="slidenum">
              <a:rPr lang="pl-PL" smtClean="0"/>
              <a:t>‹#›</a:t>
            </a:fld>
            <a:endParaRPr lang="pl-PL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69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654F1F-D9AE-B161-015B-21CA97A263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noProof="0" dirty="0" err="1"/>
              <a:t>Bezczujnikowe</a:t>
            </a:r>
            <a:r>
              <a:rPr lang="pl-PL" noProof="0" dirty="0"/>
              <a:t> śledzenie sondy USG na potrzeby rekonstrukcji 3D</a:t>
            </a:r>
          </a:p>
        </p:txBody>
      </p:sp>
    </p:spTree>
    <p:extLst>
      <p:ext uri="{BB962C8B-B14F-4D97-AF65-F5344CB8AC3E}">
        <p14:creationId xmlns:p14="http://schemas.microsoft.com/office/powerpoint/2010/main" val="361628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C8CA1E-FDAA-9BF2-A2BF-31FFC998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noProof="0" dirty="0"/>
              <a:t>Problem i Cel</a:t>
            </a:r>
          </a:p>
        </p:txBody>
      </p:sp>
      <p:graphicFrame>
        <p:nvGraphicFramePr>
          <p:cNvPr id="9" name="pole tekstowe 6">
            <a:extLst>
              <a:ext uri="{FF2B5EF4-FFF2-40B4-BE49-F238E27FC236}">
                <a16:creationId xmlns:a16="http://schemas.microsoft.com/office/drawing/2014/main" id="{2FA58C21-DBE6-DCED-384F-35DAB319B4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0275185"/>
              </p:ext>
            </p:extLst>
          </p:nvPr>
        </p:nvGraphicFramePr>
        <p:xfrm>
          <a:off x="1106905" y="2090172"/>
          <a:ext cx="10246895" cy="1938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9035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C68109-DBE3-6736-6382-B2B6C945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SOTA</a:t>
            </a:r>
            <a:endParaRPr lang="pl-P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1EDE74-93E8-04A4-4C71-0AA323EA01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797784"/>
            <a:ext cx="10058399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l-PL" b="1" dirty="0"/>
              <a:t>Metody Klasyczne (do 2017):</a:t>
            </a:r>
            <a:r>
              <a:rPr lang="pl-PL" dirty="0"/>
              <a:t> Oparte na prostej korelacji plamek (</a:t>
            </a:r>
            <a:r>
              <a:rPr lang="pl-PL" dirty="0" err="1"/>
              <a:t>Speckle</a:t>
            </a:r>
            <a:r>
              <a:rPr lang="pl-PL" dirty="0"/>
              <a:t> </a:t>
            </a:r>
            <a:r>
              <a:rPr lang="pl-PL" dirty="0" err="1"/>
              <a:t>Decorrelation</a:t>
            </a:r>
            <a:r>
              <a:rPr lang="pl-PL" dirty="0"/>
              <a:t>).</a:t>
            </a:r>
          </a:p>
          <a:p>
            <a:pPr lvl="1"/>
            <a:r>
              <a:rPr lang="pl-PL" sz="2000" i="1" dirty="0"/>
              <a:t>Wada:</a:t>
            </a:r>
            <a:r>
              <a:rPr lang="pl-PL" sz="2000" dirty="0"/>
              <a:t> Niska dokładność przy szybkim ruchu i rotacji sondy.</a:t>
            </a:r>
          </a:p>
          <a:p>
            <a:r>
              <a:rPr lang="pl-PL" b="1" dirty="0"/>
              <a:t>Wczesne </a:t>
            </a:r>
            <a:r>
              <a:rPr lang="pl-PL" b="1" dirty="0" err="1"/>
              <a:t>Deep</a:t>
            </a:r>
            <a:r>
              <a:rPr lang="pl-PL" b="1" dirty="0"/>
              <a:t> Learning (2018-2020):</a:t>
            </a:r>
            <a:r>
              <a:rPr lang="pl-PL" dirty="0"/>
              <a:t> Wykorzystanie CNN (np. Prevost et al.) do regresji ruchu.</a:t>
            </a:r>
          </a:p>
          <a:p>
            <a:pPr lvl="1"/>
            <a:r>
              <a:rPr lang="pl-PL" sz="2000" i="1" dirty="0"/>
              <a:t>Wada:</a:t>
            </a:r>
            <a:r>
              <a:rPr lang="pl-PL" sz="2000" dirty="0"/>
              <a:t> Błędy kumulują się w czasie (</a:t>
            </a:r>
            <a:r>
              <a:rPr lang="pl-PL" sz="2000" dirty="0" err="1"/>
              <a:t>Drift</a:t>
            </a:r>
            <a:r>
              <a:rPr lang="pl-PL" sz="2000" dirty="0"/>
              <a:t>), brak analizy sekwencji.</a:t>
            </a:r>
          </a:p>
          <a:p>
            <a:r>
              <a:rPr lang="pl-PL" b="1" dirty="0"/>
              <a:t>Nowoczesne Podejścia (2023-2025):</a:t>
            </a:r>
            <a:r>
              <a:rPr lang="pl-PL" dirty="0"/>
              <a:t> Architektury hybrydowe CNN + LSTM/</a:t>
            </a:r>
            <a:r>
              <a:rPr lang="pl-PL" dirty="0" err="1"/>
              <a:t>Transformers</a:t>
            </a:r>
            <a:r>
              <a:rPr lang="pl-PL" dirty="0"/>
              <a:t>.</a:t>
            </a:r>
          </a:p>
          <a:p>
            <a:pPr lvl="1"/>
            <a:r>
              <a:rPr lang="pl-PL" sz="2000" b="1" dirty="0" err="1"/>
              <a:t>MoGLo</a:t>
            </a:r>
            <a:r>
              <a:rPr lang="pl-PL" sz="2000" b="1" dirty="0"/>
              <a:t>-Net (2025):</a:t>
            </a:r>
            <a:r>
              <a:rPr lang="pl-PL" sz="2000" dirty="0"/>
              <a:t> Wykorzystuje mechanizm uwagi (</a:t>
            </a:r>
            <a:r>
              <a:rPr lang="pl-PL" sz="2000" dirty="0" err="1"/>
              <a:t>Attention</a:t>
            </a:r>
            <a:r>
              <a:rPr lang="pl-PL" sz="2000" dirty="0"/>
              <a:t>) i pamięć czasową (LSTM) do redukcji dryftu.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pl-PL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l-PL" altLang="pl-PL" b="1" dirty="0"/>
              <a:t>Wynik: Obecny standard (SOTA) osiąga błąd dryftu na poziomie ~1</a:t>
            </a:r>
            <a:r>
              <a:rPr lang="en-US" altLang="pl-PL" b="1" dirty="0"/>
              <a:t>3</a:t>
            </a:r>
            <a:r>
              <a:rPr lang="pl-PL" altLang="pl-PL" b="1" dirty="0"/>
              <a:t>%.</a:t>
            </a:r>
          </a:p>
        </p:txBody>
      </p:sp>
    </p:spTree>
    <p:extLst>
      <p:ext uri="{BB962C8B-B14F-4D97-AF65-F5344CB8AC3E}">
        <p14:creationId xmlns:p14="http://schemas.microsoft.com/office/powerpoint/2010/main" val="32214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B4D37A-17CB-D26F-27F0-D79BF7285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Podejście na tle </a:t>
            </a:r>
            <a:r>
              <a:rPr lang="pl-PL" dirty="0" err="1"/>
              <a:t>State</a:t>
            </a:r>
            <a:r>
              <a:rPr lang="pl-PL" dirty="0"/>
              <a:t> of the Art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31CAC8C-6466-835B-1EFE-FE4BF64CC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Analiza literatury wskazuje, że </a:t>
            </a:r>
            <a:r>
              <a:rPr lang="pl-PL" b="1" dirty="0"/>
              <a:t>największym wyzwaniem jest ruch w osi Z (Out-of-</a:t>
            </a:r>
            <a:r>
              <a:rPr lang="pl-PL" b="1" dirty="0" err="1"/>
              <a:t>Plane</a:t>
            </a:r>
            <a:r>
              <a:rPr lang="pl-PL" b="1" dirty="0"/>
              <a:t>)</a:t>
            </a:r>
            <a:r>
              <a:rPr lang="pl-PL" dirty="0"/>
              <a:t>.</a:t>
            </a:r>
          </a:p>
          <a:p>
            <a:r>
              <a:rPr lang="pl-PL" dirty="0"/>
              <a:t>Dlatego proponujemy </a:t>
            </a:r>
            <a:r>
              <a:rPr lang="pl-PL" b="1" dirty="0"/>
              <a:t>Podejście Hybrydowe</a:t>
            </a:r>
            <a:r>
              <a:rPr lang="pl-PL" dirty="0"/>
              <a:t>:</a:t>
            </a:r>
          </a:p>
          <a:p>
            <a:pPr lvl="1"/>
            <a:r>
              <a:rPr lang="pl-PL" b="1" dirty="0"/>
              <a:t>Oś X/Y:</a:t>
            </a:r>
            <a:r>
              <a:rPr lang="pl-PL" dirty="0"/>
              <a:t> Używamy </a:t>
            </a:r>
            <a:r>
              <a:rPr lang="pl-PL" b="1" dirty="0"/>
              <a:t>Visual </a:t>
            </a:r>
            <a:r>
              <a:rPr lang="pl-PL" b="1" dirty="0" err="1"/>
              <a:t>Odometry</a:t>
            </a:r>
            <a:r>
              <a:rPr lang="pl-PL" dirty="0"/>
              <a:t> (Optical </a:t>
            </a:r>
            <a:r>
              <a:rPr lang="pl-PL" dirty="0" err="1"/>
              <a:t>Flow</a:t>
            </a:r>
            <a:r>
              <a:rPr lang="pl-PL" dirty="0"/>
              <a:t>), ponieważ jest to metoda stabilna i geometrycznie poprawna dla ruchu w płaszczyźnie.</a:t>
            </a:r>
          </a:p>
          <a:p>
            <a:pPr lvl="1"/>
            <a:r>
              <a:rPr lang="pl-PL" b="1" dirty="0"/>
              <a:t>Oś Z:</a:t>
            </a:r>
            <a:r>
              <a:rPr lang="pl-PL" dirty="0"/>
              <a:t> Adaptujemy architekturę </a:t>
            </a:r>
            <a:r>
              <a:rPr lang="pl-PL" b="1" dirty="0" err="1"/>
              <a:t>ResNet</a:t>
            </a:r>
            <a:r>
              <a:rPr lang="pl-PL" b="1" dirty="0"/>
              <a:t> + LSTM</a:t>
            </a:r>
            <a:r>
              <a:rPr lang="pl-PL" dirty="0"/>
              <a:t> (inspirowaną </a:t>
            </a:r>
            <a:r>
              <a:rPr lang="pl-PL" dirty="0" err="1"/>
              <a:t>MoGLo</a:t>
            </a:r>
            <a:r>
              <a:rPr lang="pl-PL" dirty="0"/>
              <a:t>-Net), ponieważ </a:t>
            </a:r>
            <a:r>
              <a:rPr lang="pl-PL" dirty="0" err="1"/>
              <a:t>Deep</a:t>
            </a:r>
            <a:r>
              <a:rPr lang="pl-PL" dirty="0"/>
              <a:t> Learning najlepiej radzi sobie z nieliniową dekorelacją plamek.</a:t>
            </a:r>
          </a:p>
          <a:p>
            <a:r>
              <a:rPr lang="pl-PL" b="1" dirty="0"/>
              <a:t>Cel:</a:t>
            </a:r>
            <a:r>
              <a:rPr lang="pl-PL" dirty="0"/>
              <a:t> Osiągnięcie kompromisu między szybkością klasycznych algorytmów a dokładnością sieci neuronowych.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8968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pl-PL" b="1" noProof="0" dirty="0"/>
              <a:t>In-</a:t>
            </a:r>
            <a:r>
              <a:rPr lang="pl-PL" b="1" noProof="0" dirty="0" err="1"/>
              <a:t>Plane</a:t>
            </a:r>
            <a:r>
              <a:rPr lang="pl-PL" b="1" noProof="0" dirty="0"/>
              <a:t> </a:t>
            </a:r>
            <a:r>
              <a:rPr lang="pl-PL" b="1" noProof="0" dirty="0" err="1"/>
              <a:t>Tracking</a:t>
            </a:r>
            <a:r>
              <a:rPr lang="pl-PL" b="1" noProof="0" dirty="0"/>
              <a:t> (X/Y) – Visual </a:t>
            </a:r>
            <a:r>
              <a:rPr lang="pl-PL" b="1" noProof="0" dirty="0" err="1"/>
              <a:t>Odometry</a:t>
            </a:r>
            <a:endParaRPr lang="pl-PL" b="1" noProof="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601727"/>
            <a:ext cx="4001315" cy="339111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noProof="0" dirty="0"/>
              <a:t>Technologia:</a:t>
            </a:r>
            <a:endParaRPr lang="pl-PL" noProof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l-PL" b="1" noProof="0" dirty="0"/>
              <a:t>Algorytm:</a:t>
            </a:r>
            <a:r>
              <a:rPr lang="pl-PL" noProof="0" dirty="0"/>
              <a:t> Lucas-</a:t>
            </a:r>
            <a:r>
              <a:rPr lang="pl-PL" noProof="0" dirty="0" err="1"/>
              <a:t>Kanade</a:t>
            </a:r>
            <a:r>
              <a:rPr lang="pl-PL" noProof="0" dirty="0"/>
              <a:t> Optical </a:t>
            </a:r>
            <a:r>
              <a:rPr lang="pl-PL" noProof="0" dirty="0" err="1"/>
              <a:t>Flow</a:t>
            </a:r>
            <a:r>
              <a:rPr lang="pl-PL" noProof="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l-PL" b="1" noProof="0" dirty="0"/>
              <a:t>Filtracja:</a:t>
            </a:r>
            <a:r>
              <a:rPr lang="pl-PL" noProof="0" dirty="0"/>
              <a:t> RANSAC + estimateAffinePartial2D.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l-PL" b="1" noProof="0" dirty="0"/>
              <a:t>Funkcja:</a:t>
            </a:r>
            <a:r>
              <a:rPr lang="pl-PL" noProof="0" dirty="0"/>
              <a:t> Śledzenie punktów charakterystycznych i obliczanie macierzy transformacji całego obrazu (przesunięcie + rotacja).</a:t>
            </a:r>
          </a:p>
          <a:p>
            <a:pPr marL="0" indent="0">
              <a:buNone/>
            </a:pPr>
            <a:r>
              <a:rPr lang="pl-PL" b="1" noProof="0" dirty="0"/>
              <a:t>Wyniki:</a:t>
            </a:r>
            <a:endParaRPr lang="pl-PL" noProof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l-PL" noProof="0" dirty="0"/>
              <a:t>Wykryto i skorygowano rotację układu współrzędnych.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l-PL" b="1" noProof="0" dirty="0"/>
              <a:t>Dokładność (MAE):</a:t>
            </a:r>
            <a:r>
              <a:rPr lang="pl-PL" noProof="0" dirty="0"/>
              <a:t> ~0.7 mm dla ruchu w płaszczyźnie.</a:t>
            </a:r>
          </a:p>
          <a:p>
            <a:endParaRPr lang="pl-P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703496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noProof="0" dirty="0"/>
              <a:t>Out-of-</a:t>
            </a:r>
            <a:r>
              <a:rPr lang="pl-PL" b="1" noProof="0" dirty="0" err="1"/>
              <a:t>Plane</a:t>
            </a:r>
            <a:r>
              <a:rPr lang="pl-PL" b="1" noProof="0" dirty="0"/>
              <a:t> </a:t>
            </a:r>
            <a:r>
              <a:rPr lang="pl-PL" b="1" noProof="0" dirty="0" err="1"/>
              <a:t>Estimation</a:t>
            </a:r>
            <a:r>
              <a:rPr lang="pl-PL" b="1" noProof="0" dirty="0"/>
              <a:t> (Z) – </a:t>
            </a:r>
            <a:r>
              <a:rPr lang="pl-PL" b="1" noProof="0" dirty="0" err="1"/>
              <a:t>Deep</a:t>
            </a:r>
            <a:r>
              <a:rPr lang="pl-PL" b="1" noProof="0" dirty="0"/>
              <a:t>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l-PL" noProof="0" dirty="0"/>
                  <a:t>Architektura: Zmodyfikowany ResNet-18.</a:t>
                </a:r>
              </a:p>
              <a:p>
                <a:r>
                  <a:rPr lang="pl-PL" noProof="0" dirty="0"/>
                  <a:t>Input: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pl-PL" noProof="0" dirty="0"/>
                  <a:t>Para sąsiednich klatek (t, t+1) sklejona w tensor 2-kanałowy.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pl-PL" noProof="0" dirty="0"/>
                  <a:t>Sieć uczy się bezpośrednio z mapy cech tekstury (</a:t>
                </a:r>
                <a:r>
                  <a:rPr lang="pl-PL" noProof="0" dirty="0" err="1"/>
                  <a:t>Speckle</a:t>
                </a:r>
                <a:r>
                  <a:rPr lang="pl-PL" noProof="0" dirty="0"/>
                  <a:t> </a:t>
                </a:r>
                <a:r>
                  <a:rPr lang="pl-PL" noProof="0" dirty="0" err="1"/>
                  <a:t>Decorrelation</a:t>
                </a:r>
                <a:r>
                  <a:rPr lang="pl-PL" noProof="0" dirty="0"/>
                  <a:t>).</a:t>
                </a:r>
              </a:p>
              <a:p>
                <a:r>
                  <a:rPr lang="pl-PL" noProof="0" dirty="0" err="1"/>
                  <a:t>Output</a:t>
                </a:r>
                <a:r>
                  <a:rPr lang="pl-PL" noProof="0" dirty="0"/>
                  <a:t>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pl-PL" noProof="0" dirty="0"/>
                  <a:t>Estymacja dystansu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noProof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pl-PL" i="1" noProof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pl-PL" noProof="0" dirty="0"/>
                  <a:t>(w milimetrach).</a:t>
                </a:r>
              </a:p>
              <a:p>
                <a:r>
                  <a:rPr lang="pl-PL" noProof="0" dirty="0"/>
                  <a:t>Trening: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pl-PL" noProof="0" dirty="0"/>
                  <a:t>Dane: Zbiór TUS-REC (z walidacją na </a:t>
                </a:r>
                <a:r>
                  <a:rPr lang="pl-PL" noProof="0" dirty="0" err="1"/>
                  <a:t>Subject</a:t>
                </a:r>
                <a:r>
                  <a:rPr lang="pl-PL" noProof="0" dirty="0"/>
                  <a:t> 050).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pl-PL" noProof="0" dirty="0" err="1"/>
                  <a:t>Loss</a:t>
                </a:r>
                <a:r>
                  <a:rPr lang="pl-PL" noProof="0" dirty="0"/>
                  <a:t> </a:t>
                </a:r>
                <a:r>
                  <a:rPr lang="pl-PL" noProof="0" dirty="0" err="1"/>
                  <a:t>Function</a:t>
                </a:r>
                <a:r>
                  <a:rPr lang="pl-PL" noProof="0" dirty="0"/>
                  <a:t>: MSE (</a:t>
                </a:r>
                <a:r>
                  <a:rPr lang="pl-PL" noProof="0" dirty="0" err="1"/>
                  <a:t>Mean</a:t>
                </a:r>
                <a:r>
                  <a:rPr lang="pl-PL" noProof="0" dirty="0"/>
                  <a:t> </a:t>
                </a:r>
                <a:r>
                  <a:rPr lang="pl-PL" noProof="0" dirty="0" err="1"/>
                  <a:t>Squared</a:t>
                </a:r>
                <a:r>
                  <a:rPr lang="pl-PL" noProof="0" dirty="0"/>
                  <a:t> Error).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9840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 b="1" noProof="0" dirty="0"/>
              <a:t>Wyniki – Rekonstrukcja Trajektorii Z</a:t>
            </a:r>
            <a:endParaRPr lang="pl-PL" noProof="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97280" y="1845734"/>
            <a:ext cx="4418304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Opis wykresu:</a:t>
            </a:r>
            <a:endParaRPr lang="pl-PL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Zielona linia:</a:t>
            </a: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Prawdziwa trajektoria.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Czerwona linia:</a:t>
            </a: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Predykcja sieci neuronowej.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Obserwacje:</a:t>
            </a: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Model poprawnie rozpoznaje kształt ruchu, przyspieszenia i zwolnienia ręki lekarza.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Metryki:</a:t>
            </a:r>
            <a:endParaRPr lang="pl-PL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MAE (Średni błąd):</a:t>
            </a: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4.90 mm.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pl-PL" b="1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Final</a:t>
            </a: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l-PL" b="1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Drift</a:t>
            </a: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15.73 mm (na dystansie ~140 mm).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323" y="1845734"/>
            <a:ext cx="6024664" cy="301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10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69285" y="634946"/>
            <a:ext cx="43804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 sz="4100" b="1" noProof="0" dirty="0"/>
              <a:t>Wyniki – Pełna Rekonstrukcja 3D</a:t>
            </a:r>
            <a:endParaRPr lang="pl-PL" sz="4100" noProof="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828951"/>
            <a:ext cx="6909801" cy="29366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7169285" y="2198914"/>
            <a:ext cx="4380457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Opis:</a:t>
            </a:r>
            <a:endParaRPr lang="pl-PL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Połączenie Visual </a:t>
            </a:r>
            <a:r>
              <a:rPr lang="pl-PL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Odometry</a:t>
            </a: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(X/Y) i </a:t>
            </a:r>
            <a:r>
              <a:rPr lang="pl-PL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ResNet</a:t>
            </a: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(Z).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Wizualizacja pokazuje odtworzoną ścieżkę sondy w przestrzeni 3D.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Kluczowy wynik:</a:t>
            </a:r>
            <a:endParaRPr lang="pl-PL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FDR (</a:t>
            </a:r>
            <a:r>
              <a:rPr lang="pl-PL" b="1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Final</a:t>
            </a: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l-PL" b="1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Drift</a:t>
            </a: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l-PL" b="1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Rate</a:t>
            </a:r>
            <a:r>
              <a:rPr lang="pl-PL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 15.6%</a:t>
            </a: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Jest to wynik porównywalny z aktualnym stanem wiedzy (</a:t>
            </a:r>
            <a:r>
              <a:rPr lang="pl-PL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State</a:t>
            </a: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-of-the-Art). Np. model </a:t>
            </a:r>
            <a:r>
              <a:rPr lang="pl-PL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MoGLo</a:t>
            </a:r>
            <a:r>
              <a:rPr lang="pl-PL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-Net (2025) osiąga FDR na poziomie ~12%.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338239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pl-PL" b="1" noProof="0" dirty="0"/>
              <a:t>Wnioski i Dalsze Kroki</a:t>
            </a:r>
            <a:endParaRPr lang="pl-PL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79" y="1845734"/>
            <a:ext cx="10058400" cy="4023360"/>
          </a:xfrm>
        </p:spPr>
        <p:txBody>
          <a:bodyPr>
            <a:normAutofit lnSpcReduction="10000"/>
          </a:bodyPr>
          <a:lstStyle/>
          <a:p>
            <a:pPr marL="201168" lvl="1" indent="0">
              <a:buNone/>
            </a:pPr>
            <a:r>
              <a:rPr lang="pl-PL" b="1" noProof="0" dirty="0"/>
              <a:t>Osiągnięcia:</a:t>
            </a:r>
            <a:endParaRPr lang="pl-PL" noProof="0" dirty="0"/>
          </a:p>
          <a:p>
            <a:pPr marL="749808" lvl="1" indent="-457200">
              <a:buFont typeface="+mj-lt"/>
              <a:buAutoNum type="arabicPeriod"/>
            </a:pPr>
            <a:r>
              <a:rPr lang="pl-PL" noProof="0" dirty="0"/>
              <a:t>Zbudowano działający </a:t>
            </a:r>
            <a:r>
              <a:rPr lang="pl-PL" noProof="0" dirty="0" err="1"/>
              <a:t>pipeline</a:t>
            </a:r>
            <a:r>
              <a:rPr lang="pl-PL" noProof="0" dirty="0"/>
              <a:t> "</a:t>
            </a:r>
            <a:r>
              <a:rPr lang="pl-PL" noProof="0" dirty="0" err="1"/>
              <a:t>Trackerless</a:t>
            </a:r>
            <a:r>
              <a:rPr lang="pl-PL" noProof="0" dirty="0"/>
              <a:t> US".</a:t>
            </a:r>
          </a:p>
          <a:p>
            <a:pPr marL="749808" lvl="1" indent="-457200">
              <a:buFont typeface="+mj-lt"/>
              <a:buAutoNum type="arabicPeriod"/>
            </a:pPr>
            <a:r>
              <a:rPr lang="pl-PL" noProof="0" dirty="0"/>
              <a:t>Potwierdzono, że sieć neuronowa (</a:t>
            </a:r>
            <a:r>
              <a:rPr lang="pl-PL" noProof="0" dirty="0" err="1"/>
              <a:t>ResNet</a:t>
            </a:r>
            <a:r>
              <a:rPr lang="pl-PL" noProof="0" dirty="0"/>
              <a:t>) potrafi "widzieć" głębokość poprzez dekorelację plamek.</a:t>
            </a:r>
          </a:p>
          <a:p>
            <a:pPr marL="749808" lvl="1" indent="-457200">
              <a:buFont typeface="+mj-lt"/>
              <a:buAutoNum type="arabicPeriod"/>
            </a:pPr>
            <a:r>
              <a:rPr lang="pl-PL" noProof="0" dirty="0"/>
              <a:t>Osiągnięto dryft na poziomie 15%, co jest obiecującym wynikiem dla metody </a:t>
            </a:r>
            <a:r>
              <a:rPr lang="pl-PL" noProof="0" dirty="0" err="1"/>
              <a:t>bezczujnikowej</a:t>
            </a:r>
            <a:r>
              <a:rPr lang="pl-PL" noProof="0" dirty="0"/>
              <a:t>.</a:t>
            </a:r>
          </a:p>
          <a:p>
            <a:pPr marL="292608" lvl="1" indent="0">
              <a:buNone/>
            </a:pPr>
            <a:r>
              <a:rPr lang="pl-PL" b="1" noProof="0" dirty="0" err="1"/>
              <a:t>Next</a:t>
            </a:r>
            <a:r>
              <a:rPr lang="pl-PL" b="1" noProof="0" dirty="0"/>
              <a:t> </a:t>
            </a:r>
            <a:r>
              <a:rPr lang="pl-PL" b="1" noProof="0" dirty="0" err="1"/>
              <a:t>Steps</a:t>
            </a:r>
            <a:r>
              <a:rPr lang="pl-PL" b="1" noProof="0" dirty="0"/>
              <a:t>:</a:t>
            </a:r>
            <a:endParaRPr lang="pl-PL" noProof="0" dirty="0"/>
          </a:p>
          <a:p>
            <a:pPr marL="749808" lvl="1" indent="-457200">
              <a:buFont typeface="+mj-lt"/>
              <a:buAutoNum type="arabicPeriod"/>
            </a:pPr>
            <a:r>
              <a:rPr lang="pl-PL" noProof="0" dirty="0"/>
              <a:t>Skalowanie Treningu: Wykorzystanie pełnego zbioru danych TUS-REC w celu poprawy generalizacji modelu.</a:t>
            </a:r>
          </a:p>
          <a:p>
            <a:pPr marL="749808" lvl="1" indent="-457200">
              <a:buFont typeface="+mj-lt"/>
              <a:buAutoNum type="arabicPeriod"/>
            </a:pPr>
            <a:r>
              <a:rPr lang="pl-PL" noProof="0" dirty="0"/>
              <a:t>Implementacja</a:t>
            </a:r>
            <a:r>
              <a:rPr lang="pl-PL" b="1" noProof="0" dirty="0"/>
              <a:t> LSTM:</a:t>
            </a:r>
          </a:p>
          <a:p>
            <a:pPr lvl="2"/>
            <a:r>
              <a:rPr lang="pl-PL" sz="1800" i="1" noProof="0" dirty="0"/>
              <a:t>Inspiracja:</a:t>
            </a:r>
            <a:r>
              <a:rPr lang="pl-PL" sz="1800" noProof="0" dirty="0"/>
              <a:t> Analiza najnowszej literatury, w tym artykułu </a:t>
            </a:r>
            <a:r>
              <a:rPr lang="pl-PL" sz="1800" b="1" noProof="0" dirty="0"/>
              <a:t>"</a:t>
            </a:r>
            <a:r>
              <a:rPr lang="pl-PL" sz="1800" b="1" noProof="0" dirty="0" err="1"/>
              <a:t>MoGLo</a:t>
            </a:r>
            <a:r>
              <a:rPr lang="pl-PL" sz="1800" b="1" noProof="0" dirty="0"/>
              <a:t>-Net" (2025)</a:t>
            </a:r>
            <a:r>
              <a:rPr lang="pl-PL" sz="1800" noProof="0" dirty="0"/>
              <a:t>.</a:t>
            </a:r>
          </a:p>
          <a:p>
            <a:pPr lvl="2"/>
            <a:r>
              <a:rPr lang="pl-PL" sz="1800" i="1" noProof="0" dirty="0"/>
              <a:t>Dlaczego:</a:t>
            </a:r>
            <a:r>
              <a:rPr lang="pl-PL" sz="1800" noProof="0" dirty="0"/>
              <a:t> Autorzy tej pracy wykazali, że dodanie modułu LSTM do analizy sekwencji klatek pozwala zredukować </a:t>
            </a:r>
            <a:r>
              <a:rPr lang="pl-PL" sz="1800" b="1" noProof="0" dirty="0" err="1"/>
              <a:t>Final</a:t>
            </a:r>
            <a:r>
              <a:rPr lang="pl-PL" sz="1800" b="1" noProof="0" dirty="0"/>
              <a:t> </a:t>
            </a:r>
            <a:r>
              <a:rPr lang="pl-PL" sz="1800" b="1" noProof="0" dirty="0" err="1"/>
              <a:t>Drift</a:t>
            </a:r>
            <a:r>
              <a:rPr lang="pl-PL" sz="1800" b="1" noProof="0" dirty="0"/>
              <a:t> </a:t>
            </a:r>
            <a:r>
              <a:rPr lang="pl-PL" sz="1800" b="1" noProof="0" dirty="0" err="1"/>
              <a:t>Rate</a:t>
            </a:r>
            <a:r>
              <a:rPr lang="pl-PL" sz="1800" b="1" noProof="0" dirty="0"/>
              <a:t> (FDR) do poziomu 12.05%</a:t>
            </a:r>
            <a:r>
              <a:rPr lang="pl-PL" sz="1800" noProof="0" dirty="0"/>
              <a:t>.</a:t>
            </a:r>
          </a:p>
          <a:p>
            <a:pPr lvl="2"/>
            <a:r>
              <a:rPr lang="pl-PL" sz="1800" i="1" noProof="0" dirty="0"/>
              <a:t>Cel:</a:t>
            </a:r>
            <a:r>
              <a:rPr lang="pl-PL" sz="1800" noProof="0" dirty="0"/>
              <a:t> Zastosowanie tej samej architektury (CNN+LSTM), aby wygładzić trajektorię i zmniejszyć błąd do poziomu ~12%.</a:t>
            </a:r>
          </a:p>
          <a:p>
            <a:endParaRPr lang="pl-PL" sz="1800" noProof="0" dirty="0"/>
          </a:p>
        </p:txBody>
      </p:sp>
    </p:spTree>
    <p:extLst>
      <p:ext uri="{BB962C8B-B14F-4D97-AF65-F5344CB8AC3E}">
        <p14:creationId xmlns:p14="http://schemas.microsoft.com/office/powerpoint/2010/main" val="4241155710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100</TotalTime>
  <Words>641</Words>
  <Application>Microsoft Office PowerPoint</Application>
  <PresentationFormat>Panoramiczny</PresentationFormat>
  <Paragraphs>63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Ретро</vt:lpstr>
      <vt:lpstr>Bezczujnikowe śledzenie sondy USG na potrzeby rekonstrukcji 3D</vt:lpstr>
      <vt:lpstr>Problem i Cel</vt:lpstr>
      <vt:lpstr>SOTA</vt:lpstr>
      <vt:lpstr>Podejście na tle State of the Art</vt:lpstr>
      <vt:lpstr>In-Plane Tracking (X/Y) – Visual Odometry</vt:lpstr>
      <vt:lpstr>Out-of-Plane Estimation (Z) – Deep Learning</vt:lpstr>
      <vt:lpstr>Wyniki – Rekonstrukcja Trajektorii Z</vt:lpstr>
      <vt:lpstr>Wyniki – Pełna Rekonstrukcja 3D</vt:lpstr>
      <vt:lpstr>Wnioski i Dalsze Kroki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Bezczujnikowe śledzenie sondy USG na potrzeby rekonstrukcji 3D</dc:title>
  <dc:creator>Dmytro Yesyp</dc:creator>
  <cp:lastModifiedBy>Dmytro Yesyp</cp:lastModifiedBy>
  <cp:revision>8</cp:revision>
  <dcterms:created xsi:type="dcterms:W3CDTF">2025-11-01T23:31:59Z</dcterms:created>
  <dcterms:modified xsi:type="dcterms:W3CDTF">2026-01-17T23:02:19Z</dcterms:modified>
</cp:coreProperties>
</file>