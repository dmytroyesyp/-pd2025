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7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95" d="100"/>
          <a:sy n="195" d="100"/>
        </p:scale>
        <p:origin x="154" y="1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6CCA72-59F2-4F4F-BC7D-5142B04E125E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GB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A41FF0-BA34-4243-AC54-D234EC86E2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9551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A41FF0-BA34-4243-AC54-D234EC86E27F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8188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85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37160" cy="21031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19007" y="2767280"/>
            <a:ext cx="1046339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 err="1">
                <a:solidFill>
                  <a:srgbClr val="FFFFFF"/>
                </a:solidFill>
              </a:rPr>
              <a:t>Sensorless</a:t>
            </a:r>
            <a:r>
              <a:rPr lang="en-US" sz="4000" b="1" dirty="0">
                <a:solidFill>
                  <a:srgbClr val="FFFFFF"/>
                </a:solidFill>
              </a:rPr>
              <a:t> motion estimation of ultrasound probe for 3D reconstruction</a:t>
            </a:r>
            <a:endParaRPr sz="4000" b="1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" y="4846320"/>
            <a:ext cx="164615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rgbClr val="FFFFFF"/>
                </a:solidFill>
              </a:rPr>
              <a:t>Dmytro Yesyp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48D18-4A0F-42F9-C95C-5BA92C0D4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8B7E73-81E4-96E3-EC50-D5FAA5FB0817}"/>
              </a:ext>
            </a:extLst>
          </p:cNvPr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85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64592" rtlCol="0" anchor="ctr"/>
          <a:lstStyle/>
          <a:p>
            <a:pPr algn="ctr"/>
            <a:r>
              <a:rPr lang="pl-PL" sz="2800" b="1" dirty="0"/>
              <a:t>Project </a:t>
            </a:r>
            <a:r>
              <a:rPr lang="pl-PL" sz="2800" b="1" dirty="0" err="1"/>
              <a:t>Overview</a:t>
            </a:r>
            <a:endParaRPr lang="pl-PL" sz="2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CAADE5-9CF3-35C7-5AB8-6171E29941CF}"/>
                  </a:ext>
                </a:extLst>
              </p:cNvPr>
              <p:cNvSpPr txBox="1"/>
              <p:nvPr/>
            </p:nvSpPr>
            <p:spPr>
              <a:xfrm>
                <a:off x="548640" y="1188720"/>
                <a:ext cx="11094415" cy="51206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l-PL" b="1" dirty="0"/>
                  <a:t>Goal</a:t>
                </a:r>
                <a:r>
                  <a:rPr lang="pl-PL" dirty="0"/>
                  <a:t> — </a:t>
                </a:r>
                <a:r>
                  <a:rPr lang="pl-PL" dirty="0" err="1"/>
                  <a:t>reconstruct</a:t>
                </a:r>
                <a:r>
                  <a:rPr lang="pl-PL" dirty="0"/>
                  <a:t> 3D </a:t>
                </a:r>
                <a:r>
                  <a:rPr lang="pl-PL" dirty="0" err="1"/>
                  <a:t>ultrasound</a:t>
                </a:r>
                <a:r>
                  <a:rPr lang="pl-PL" dirty="0"/>
                  <a:t> </a:t>
                </a:r>
                <a:r>
                  <a:rPr lang="pl-PL" dirty="0" err="1"/>
                  <a:t>probe</a:t>
                </a:r>
                <a:r>
                  <a:rPr lang="pl-PL" dirty="0"/>
                  <a:t> </a:t>
                </a:r>
                <a:r>
                  <a:rPr lang="pl-PL" dirty="0" err="1"/>
                  <a:t>trajectories</a:t>
                </a:r>
                <a:r>
                  <a:rPr lang="pl-PL" dirty="0"/>
                  <a:t> from 2D B-</a:t>
                </a:r>
                <a:r>
                  <a:rPr lang="pl-PL" dirty="0" err="1"/>
                  <a:t>mode</a:t>
                </a:r>
                <a:r>
                  <a:rPr lang="pl-PL" dirty="0"/>
                  <a:t> video </a:t>
                </a:r>
                <a:r>
                  <a:rPr lang="pl-PL" dirty="0" err="1"/>
                  <a:t>alone</a:t>
                </a:r>
                <a:r>
                  <a:rPr lang="pl-PL" dirty="0"/>
                  <a:t>, </a:t>
                </a:r>
                <a:r>
                  <a:rPr lang="pl-PL" dirty="0" err="1"/>
                  <a:t>eliminating</a:t>
                </a:r>
                <a:r>
                  <a:rPr lang="pl-PL" dirty="0"/>
                  <a:t> the </a:t>
                </a:r>
                <a:r>
                  <a:rPr lang="pl-PL" dirty="0" err="1"/>
                  <a:t>need</a:t>
                </a:r>
                <a:r>
                  <a:rPr lang="pl-PL" dirty="0"/>
                  <a:t> for </a:t>
                </a:r>
                <a:r>
                  <a:rPr lang="pl-PL" dirty="0" err="1"/>
                  <a:t>expensive</a:t>
                </a:r>
                <a:r>
                  <a:rPr lang="pl-PL" dirty="0"/>
                  <a:t> </a:t>
                </a:r>
                <a:r>
                  <a:rPr lang="pl-PL" dirty="0" err="1"/>
                  <a:t>optical</a:t>
                </a:r>
                <a:r>
                  <a:rPr lang="pl-PL" dirty="0"/>
                  <a:t> </a:t>
                </a:r>
                <a:r>
                  <a:rPr lang="pl-PL" dirty="0" err="1"/>
                  <a:t>trackers</a:t>
                </a:r>
                <a:r>
                  <a:rPr lang="pl-PL" dirty="0"/>
                  <a:t>. Standard 2D </a:t>
                </a:r>
                <a:r>
                  <a:rPr lang="pl-PL" dirty="0" err="1"/>
                  <a:t>ultrasound</a:t>
                </a:r>
                <a:r>
                  <a:rPr lang="pl-PL" dirty="0"/>
                  <a:t> </a:t>
                </a:r>
                <a:r>
                  <a:rPr lang="pl-PL" dirty="0" err="1"/>
                  <a:t>forces</a:t>
                </a:r>
                <a:r>
                  <a:rPr lang="pl-PL" dirty="0"/>
                  <a:t> </a:t>
                </a:r>
                <a:r>
                  <a:rPr lang="pl-PL" dirty="0" err="1"/>
                  <a:t>sonographers</a:t>
                </a:r>
                <a:r>
                  <a:rPr lang="pl-PL" dirty="0"/>
                  <a:t> to </a:t>
                </a:r>
                <a:r>
                  <a:rPr lang="pl-PL" dirty="0" err="1"/>
                  <a:t>mentally</a:t>
                </a:r>
                <a:r>
                  <a:rPr lang="pl-PL" dirty="0"/>
                  <a:t> </a:t>
                </a:r>
                <a:r>
                  <a:rPr lang="pl-PL" dirty="0" err="1"/>
                  <a:t>fuse</a:t>
                </a:r>
                <a:r>
                  <a:rPr lang="pl-PL" dirty="0"/>
                  <a:t> </a:t>
                </a:r>
                <a:r>
                  <a:rPr lang="pl-PL" dirty="0" err="1"/>
                  <a:t>slices</a:t>
                </a:r>
                <a:r>
                  <a:rPr lang="pl-PL" dirty="0"/>
                  <a:t>; 3D </a:t>
                </a:r>
                <a:r>
                  <a:rPr lang="pl-PL" dirty="0" err="1"/>
                  <a:t>systems</a:t>
                </a:r>
                <a:r>
                  <a:rPr lang="pl-PL" dirty="0"/>
                  <a:t> </a:t>
                </a:r>
                <a:r>
                  <a:rPr lang="pl-PL" dirty="0" err="1"/>
                  <a:t>exist</a:t>
                </a:r>
                <a:r>
                  <a:rPr lang="pl-PL" dirty="0"/>
                  <a:t> but </a:t>
                </a:r>
                <a:r>
                  <a:rPr lang="pl-PL" dirty="0" err="1"/>
                  <a:t>require</a:t>
                </a:r>
                <a:r>
                  <a:rPr lang="pl-PL" dirty="0"/>
                  <a:t> </a:t>
                </a:r>
                <a:r>
                  <a:rPr lang="pl-PL" dirty="0" err="1"/>
                  <a:t>bulky</a:t>
                </a:r>
                <a:r>
                  <a:rPr lang="pl-PL" dirty="0"/>
                  <a:t> hardware </a:t>
                </a:r>
                <a:r>
                  <a:rPr lang="pl-PL" dirty="0" err="1"/>
                  <a:t>that</a:t>
                </a:r>
                <a:r>
                  <a:rPr lang="pl-PL" dirty="0"/>
                  <a:t> </a:t>
                </a:r>
                <a:r>
                  <a:rPr lang="pl-PL" dirty="0" err="1"/>
                  <a:t>disrupts</a:t>
                </a:r>
                <a:r>
                  <a:rPr lang="pl-PL" dirty="0"/>
                  <a:t> </a:t>
                </a:r>
                <a:r>
                  <a:rPr lang="pl-PL" dirty="0" err="1"/>
                  <a:t>clinical</a:t>
                </a:r>
                <a:r>
                  <a:rPr lang="pl-PL" dirty="0"/>
                  <a:t> </a:t>
                </a:r>
                <a:r>
                  <a:rPr lang="pl-PL" dirty="0" err="1"/>
                  <a:t>workflow</a:t>
                </a:r>
                <a:r>
                  <a:rPr lang="pl-PL" dirty="0"/>
                  <a:t>.</a:t>
                </a:r>
              </a:p>
              <a:p>
                <a:r>
                  <a:rPr lang="en-US" b="1" dirty="0"/>
                  <a:t>Work done</a:t>
                </a:r>
                <a:r>
                  <a:rPr lang="pl-PL" b="1" dirty="0"/>
                  <a:t> </a:t>
                </a:r>
                <a:r>
                  <a:rPr lang="pl-PL" b="1" dirty="0" err="1"/>
                  <a:t>so</a:t>
                </a:r>
                <a:r>
                  <a:rPr lang="pl-PL" b="1" dirty="0"/>
                  <a:t> far:</a:t>
                </a:r>
                <a:endParaRPr lang="pl-PL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pl-PL" b="1" dirty="0" err="1"/>
                  <a:t>Started</a:t>
                </a:r>
                <a:r>
                  <a:rPr lang="pl-PL" b="1" dirty="0"/>
                  <a:t> with </a:t>
                </a:r>
                <a:r>
                  <a:rPr lang="pl-PL" b="1" dirty="0" err="1"/>
                  <a:t>classical</a:t>
                </a:r>
                <a:r>
                  <a:rPr lang="pl-PL" b="1" dirty="0"/>
                  <a:t> Visual </a:t>
                </a:r>
                <a:r>
                  <a:rPr lang="pl-PL" b="1" dirty="0" err="1"/>
                  <a:t>Odometry</a:t>
                </a:r>
                <a:r>
                  <a:rPr lang="pl-PL" dirty="0"/>
                  <a:t> (</a:t>
                </a:r>
                <a:r>
                  <a:rPr lang="pl-PL" dirty="0" err="1"/>
                  <a:t>Shi</a:t>
                </a:r>
                <a:r>
                  <a:rPr lang="pl-PL" dirty="0"/>
                  <a:t>-Tomasi + Lucas-</a:t>
                </a:r>
                <a:r>
                  <a:rPr lang="pl-PL" dirty="0" err="1"/>
                  <a:t>Kanade</a:t>
                </a:r>
                <a:r>
                  <a:rPr lang="pl-PL" dirty="0"/>
                  <a:t> + RANSAC) for in-</a:t>
                </a:r>
                <a:r>
                  <a:rPr lang="pl-PL" dirty="0" err="1"/>
                  <a:t>plane</a:t>
                </a:r>
                <a:r>
                  <a:rPr lang="pl-PL" dirty="0"/>
                  <a:t> (X, Y) </a:t>
                </a:r>
                <a:r>
                  <a:rPr lang="pl-PL" dirty="0" err="1"/>
                  <a:t>tracking</a:t>
                </a:r>
                <a:r>
                  <a:rPr lang="pl-PL" dirty="0"/>
                  <a:t> → hit the </a:t>
                </a:r>
                <a:r>
                  <a:rPr lang="pl-PL" b="1" dirty="0" err="1"/>
                  <a:t>aperture</a:t>
                </a:r>
                <a:r>
                  <a:rPr lang="pl-PL" b="1" dirty="0"/>
                  <a:t> problem</a:t>
                </a:r>
                <a:r>
                  <a:rPr lang="pl-PL" dirty="0"/>
                  <a:t> (</a:t>
                </a:r>
                <a:r>
                  <a:rPr lang="pl-PL" dirty="0" err="1"/>
                  <a:t>sliding</a:t>
                </a:r>
                <a:r>
                  <a:rPr lang="pl-PL" dirty="0"/>
                  <a:t> </a:t>
                </a:r>
                <a:r>
                  <a:rPr lang="pl-PL" dirty="0" err="1"/>
                  <a:t>parallel</a:t>
                </a:r>
                <a:r>
                  <a:rPr lang="pl-PL" dirty="0"/>
                  <a:t> to </a:t>
                </a:r>
                <a:r>
                  <a:rPr lang="pl-PL" dirty="0" err="1"/>
                  <a:t>muscle</a:t>
                </a:r>
                <a:r>
                  <a:rPr lang="pl-PL" dirty="0"/>
                  <a:t> </a:t>
                </a:r>
                <a:r>
                  <a:rPr lang="pl-PL" dirty="0" err="1"/>
                  <a:t>fibers</a:t>
                </a:r>
                <a:r>
                  <a:rPr lang="pl-PL" dirty="0"/>
                  <a:t> </a:t>
                </a:r>
                <a:r>
                  <a:rPr lang="pl-PL" dirty="0" err="1"/>
                  <a:t>reported</a:t>
                </a:r>
                <a:r>
                  <a:rPr lang="pl-PL" dirty="0"/>
                  <a:t> zero </a:t>
                </a:r>
                <a:r>
                  <a:rPr lang="pl-PL" dirty="0" err="1"/>
                  <a:t>motion</a:t>
                </a:r>
                <a:r>
                  <a:rPr lang="pl-PL" dirty="0"/>
                  <a:t> </a:t>
                </a:r>
                <a:r>
                  <a:rPr lang="pl-PL" dirty="0" err="1"/>
                  <a:t>despite</a:t>
                </a:r>
                <a:r>
                  <a:rPr lang="pl-PL" dirty="0"/>
                  <a:t> 20 mm of </a:t>
                </a:r>
                <a:r>
                  <a:rPr lang="pl-PL" dirty="0" err="1"/>
                  <a:t>true</a:t>
                </a:r>
                <a:r>
                  <a:rPr lang="pl-PL" dirty="0"/>
                  <a:t> </a:t>
                </a:r>
                <a:r>
                  <a:rPr lang="pl-PL" dirty="0" err="1"/>
                  <a:t>displacement</a:t>
                </a:r>
                <a:r>
                  <a:rPr lang="pl-PL" dirty="0"/>
                  <a:t>) and the </a:t>
                </a:r>
                <a:r>
                  <a:rPr lang="pl-PL" b="1" dirty="0" err="1"/>
                  <a:t>wiper</a:t>
                </a:r>
                <a:r>
                  <a:rPr lang="pl-PL" b="1" dirty="0"/>
                  <a:t> </a:t>
                </a:r>
                <a:r>
                  <a:rPr lang="pl-PL" b="1" dirty="0" err="1"/>
                  <a:t>effect</a:t>
                </a:r>
                <a:r>
                  <a:rPr lang="pl-PL" dirty="0"/>
                  <a:t> (small </a:t>
                </a:r>
                <a:r>
                  <a:rPr lang="pl-PL" dirty="0" err="1"/>
                  <a:t>hand</a:t>
                </a:r>
                <a:r>
                  <a:rPr lang="pl-PL" dirty="0"/>
                  <a:t> </a:t>
                </a:r>
                <a:r>
                  <a:rPr lang="pl-PL" dirty="0" err="1"/>
                  <a:t>rotations</a:t>
                </a:r>
                <a:r>
                  <a:rPr lang="pl-PL" dirty="0"/>
                  <a:t> </a:t>
                </a:r>
                <a:r>
                  <a:rPr lang="pl-PL" dirty="0" err="1"/>
                  <a:t>distorting</a:t>
                </a:r>
                <a:r>
                  <a:rPr lang="pl-PL" dirty="0"/>
                  <a:t> the 2D </a:t>
                </a:r>
                <a:r>
                  <a:rPr lang="pl-PL" dirty="0" err="1"/>
                  <a:t>projection</a:t>
                </a:r>
                <a:r>
                  <a:rPr lang="pl-PL" dirty="0"/>
                  <a:t> of 3D </a:t>
                </a:r>
                <a:r>
                  <a:rPr lang="pl-PL" dirty="0" err="1"/>
                  <a:t>motion</a:t>
                </a:r>
                <a:r>
                  <a:rPr lang="pl-PL" dirty="0"/>
                  <a:t>). </a:t>
                </a:r>
                <a:r>
                  <a:rPr lang="pl-PL" dirty="0" err="1"/>
                  <a:t>Solved</a:t>
                </a:r>
                <a:r>
                  <a:rPr lang="pl-PL" dirty="0"/>
                  <a:t> by </a:t>
                </a:r>
                <a:r>
                  <a:rPr lang="pl-PL" dirty="0" err="1"/>
                  <a:t>discovering</a:t>
                </a:r>
                <a:r>
                  <a:rPr lang="pl-PL" dirty="0"/>
                  <a:t> and </a:t>
                </a:r>
                <a:r>
                  <a:rPr lang="pl-PL" dirty="0" err="1"/>
                  <a:t>correcting</a:t>
                </a:r>
                <a:r>
                  <a:rPr lang="pl-PL" dirty="0"/>
                  <a:t> a ~−130° </a:t>
                </a:r>
                <a:r>
                  <a:rPr lang="pl-PL" dirty="0" err="1"/>
                  <a:t>pixel</a:t>
                </a:r>
                <a:r>
                  <a:rPr lang="pl-PL" dirty="0"/>
                  <a:t>-vs-sensor </a:t>
                </a:r>
                <a:r>
                  <a:rPr lang="pl-PL" dirty="0" err="1"/>
                  <a:t>frame</a:t>
                </a:r>
                <a:r>
                  <a:rPr lang="pl-PL" dirty="0"/>
                  <a:t> </a:t>
                </a:r>
                <a:r>
                  <a:rPr lang="pl-PL" dirty="0" err="1"/>
                  <a:t>misalignment</a:t>
                </a:r>
                <a:r>
                  <a:rPr lang="pl-PL" dirty="0"/>
                  <a:t> → </a:t>
                </a:r>
                <a:r>
                  <a:rPr lang="pl-PL" b="1" dirty="0"/>
                  <a:t>MAE ≈ 0.7 mm</a:t>
                </a:r>
                <a:r>
                  <a:rPr lang="pl-PL" dirty="0"/>
                  <a:t> in-</a:t>
                </a:r>
                <a:r>
                  <a:rPr lang="pl-PL" dirty="0" err="1"/>
                  <a:t>plane</a:t>
                </a:r>
                <a:r>
                  <a:rPr lang="pl-PL" dirty="0"/>
                  <a:t>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pl-PL" b="1" dirty="0"/>
                  <a:t>Out-of-</a:t>
                </a:r>
                <a:r>
                  <a:rPr lang="pl-PL" b="1" dirty="0" err="1"/>
                  <a:t>plane</a:t>
                </a:r>
                <a:r>
                  <a:rPr lang="pl-PL" b="1" dirty="0"/>
                  <a:t> (Z) </a:t>
                </a:r>
                <a:r>
                  <a:rPr lang="pl-PL" b="1" dirty="0" err="1"/>
                  <a:t>requires</a:t>
                </a:r>
                <a:r>
                  <a:rPr lang="pl-PL" b="1" dirty="0"/>
                  <a:t> </a:t>
                </a:r>
                <a:r>
                  <a:rPr lang="pl-PL" b="1" dirty="0" err="1"/>
                  <a:t>deep</a:t>
                </a:r>
                <a:r>
                  <a:rPr lang="pl-PL" b="1" dirty="0"/>
                  <a:t> learning</a:t>
                </a:r>
                <a:r>
                  <a:rPr lang="pl-PL" dirty="0"/>
                  <a:t> — </a:t>
                </a:r>
                <a:r>
                  <a:rPr lang="pl-PL" dirty="0" err="1"/>
                  <a:t>speckle</a:t>
                </a:r>
                <a:r>
                  <a:rPr lang="pl-PL" dirty="0"/>
                  <a:t> </a:t>
                </a:r>
                <a:r>
                  <a:rPr lang="pl-PL" dirty="0" err="1"/>
                  <a:t>decorrelates</a:t>
                </a:r>
                <a:r>
                  <a:rPr lang="pl-PL" dirty="0"/>
                  <a:t> </a:t>
                </a:r>
                <a:r>
                  <a:rPr lang="pl-PL" dirty="0" err="1"/>
                  <a:t>rather</a:t>
                </a:r>
                <a:r>
                  <a:rPr lang="pl-PL" dirty="0"/>
                  <a:t> </a:t>
                </a:r>
                <a:r>
                  <a:rPr lang="pl-PL" dirty="0" err="1"/>
                  <a:t>than</a:t>
                </a:r>
                <a:r>
                  <a:rPr lang="pl-PL" dirty="0"/>
                  <a:t> </a:t>
                </a:r>
                <a:r>
                  <a:rPr lang="pl-PL" dirty="0" err="1"/>
                  <a:t>shifts</a:t>
                </a:r>
                <a:r>
                  <a:rPr lang="pl-PL" dirty="0"/>
                  <a:t>, </a:t>
                </a:r>
                <a:r>
                  <a:rPr lang="pl-PL" dirty="0" err="1"/>
                  <a:t>so</a:t>
                </a:r>
                <a:r>
                  <a:rPr lang="pl-PL" dirty="0"/>
                  <a:t> </a:t>
                </a:r>
                <a:r>
                  <a:rPr lang="pl-PL" dirty="0" err="1"/>
                  <a:t>optical</a:t>
                </a:r>
                <a:r>
                  <a:rPr lang="pl-PL" dirty="0"/>
                  <a:t> </a:t>
                </a:r>
                <a:r>
                  <a:rPr lang="pl-PL" dirty="0" err="1"/>
                  <a:t>flow</a:t>
                </a:r>
                <a:r>
                  <a:rPr lang="pl-PL" dirty="0"/>
                  <a:t> </a:t>
                </a:r>
                <a:r>
                  <a:rPr lang="pl-PL" dirty="0" err="1"/>
                  <a:t>is</a:t>
                </a:r>
                <a:r>
                  <a:rPr lang="pl-PL" dirty="0"/>
                  <a:t> </a:t>
                </a:r>
                <a:r>
                  <a:rPr lang="pl-PL" dirty="0" err="1"/>
                  <a:t>undefined</a:t>
                </a:r>
                <a:r>
                  <a:rPr lang="pl-PL" dirty="0"/>
                  <a:t>. First </a:t>
                </a:r>
                <a:r>
                  <a:rPr lang="pl-PL" dirty="0" err="1"/>
                  <a:t>attempt</a:t>
                </a:r>
                <a:r>
                  <a:rPr lang="pl-PL" dirty="0"/>
                  <a:t> with a standard Transformer + 1×1 </a:t>
                </a:r>
                <a:r>
                  <a:rPr lang="pl-PL" dirty="0" err="1"/>
                  <a:t>pooling</a:t>
                </a:r>
                <a:r>
                  <a:rPr lang="pl-PL" dirty="0"/>
                  <a:t> </a:t>
                </a:r>
                <a:r>
                  <a:rPr lang="pl-PL" b="1" dirty="0" err="1"/>
                  <a:t>catastrophically</a:t>
                </a:r>
                <a:r>
                  <a:rPr lang="pl-PL" b="1" dirty="0"/>
                  <a:t> </a:t>
                </a:r>
                <a:r>
                  <a:rPr lang="pl-PL" b="1" dirty="0" err="1"/>
                  <a:t>overfit</a:t>
                </a:r>
                <a:r>
                  <a:rPr lang="pl-PL" dirty="0"/>
                  <a:t> (FDR &gt; 25%) — </a:t>
                </a:r>
                <a:r>
                  <a:rPr lang="pl-PL" dirty="0" err="1"/>
                  <a:t>too</a:t>
                </a:r>
                <a:r>
                  <a:rPr lang="pl-PL" dirty="0"/>
                  <a:t> data-</a:t>
                </a:r>
                <a:r>
                  <a:rPr lang="pl-PL" dirty="0" err="1"/>
                  <a:t>hungry</a:t>
                </a:r>
                <a:r>
                  <a:rPr lang="pl-PL" dirty="0"/>
                  <a:t>, no </a:t>
                </a:r>
                <a:r>
                  <a:rPr lang="pl-PL" dirty="0" err="1"/>
                  <a:t>inductive</a:t>
                </a:r>
                <a:r>
                  <a:rPr lang="pl-PL" dirty="0"/>
                  <a:t> </a:t>
                </a:r>
                <a:r>
                  <a:rPr lang="pl-PL" dirty="0" err="1"/>
                  <a:t>bias</a:t>
                </a:r>
                <a:r>
                  <a:rPr lang="pl-PL" dirty="0"/>
                  <a:t>, </a:t>
                </a:r>
                <a:r>
                  <a:rPr lang="pl-PL" dirty="0" err="1"/>
                  <a:t>lost</a:t>
                </a:r>
                <a:r>
                  <a:rPr lang="pl-PL" dirty="0"/>
                  <a:t> </a:t>
                </a:r>
                <a:r>
                  <a:rPr lang="pl-PL" dirty="0" err="1"/>
                  <a:t>spatial</a:t>
                </a:r>
                <a:r>
                  <a:rPr lang="pl-PL" dirty="0"/>
                  <a:t> </a:t>
                </a:r>
                <a:r>
                  <a:rPr lang="pl-PL" dirty="0" err="1"/>
                  <a:t>topology</a:t>
                </a:r>
                <a:r>
                  <a:rPr lang="pl-PL" dirty="0"/>
                  <a:t>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pl-PL" b="1" dirty="0"/>
                  <a:t>Architectural </a:t>
                </a:r>
                <a:r>
                  <a:rPr lang="pl-PL" b="1" dirty="0" err="1"/>
                  <a:t>redesign</a:t>
                </a:r>
                <a:r>
                  <a:rPr lang="pl-PL" b="1" dirty="0"/>
                  <a:t> — </a:t>
                </a:r>
                <a:r>
                  <a:rPr lang="pl-PL" b="1" dirty="0" err="1"/>
                  <a:t>three</a:t>
                </a:r>
                <a:r>
                  <a:rPr lang="pl-PL" b="1" dirty="0"/>
                  <a:t> </a:t>
                </a:r>
                <a:r>
                  <a:rPr lang="pl-PL" b="1" dirty="0" err="1"/>
                  <a:t>fixes</a:t>
                </a:r>
                <a:r>
                  <a:rPr lang="pl-PL" b="1" dirty="0"/>
                  <a:t>:</a:t>
                </a:r>
                <a:r>
                  <a:rPr lang="pl-PL" dirty="0"/>
                  <a:t> (a) 2×2 </a:t>
                </a:r>
                <a:r>
                  <a:rPr lang="pl-PL" dirty="0" err="1"/>
                  <a:t>spatial</a:t>
                </a:r>
                <a:r>
                  <a:rPr lang="pl-PL" dirty="0"/>
                  <a:t> </a:t>
                </a:r>
                <a:r>
                  <a:rPr lang="pl-PL" dirty="0" err="1"/>
                  <a:t>pooling</a:t>
                </a:r>
                <a:r>
                  <a:rPr lang="pl-PL" dirty="0"/>
                  <a:t> to </a:t>
                </a:r>
                <a:r>
                  <a:rPr lang="pl-PL" dirty="0" err="1"/>
                  <a:t>preserve</a:t>
                </a:r>
                <a:r>
                  <a:rPr lang="pl-PL" dirty="0"/>
                  <a:t> </a:t>
                </a:r>
                <a:r>
                  <a:rPr lang="pl-PL" dirty="0" err="1"/>
                  <a:t>quadrant</a:t>
                </a:r>
                <a:r>
                  <a:rPr lang="pl-PL" dirty="0"/>
                  <a:t> </a:t>
                </a:r>
                <a:r>
                  <a:rPr lang="pl-PL" dirty="0" err="1"/>
                  <a:t>topography</a:t>
                </a:r>
                <a:r>
                  <a:rPr lang="pl-PL" dirty="0"/>
                  <a:t>, (b) </a:t>
                </a:r>
                <a:r>
                  <a:rPr lang="pl-PL" dirty="0" err="1"/>
                  <a:t>explicit</a:t>
                </a:r>
                <a:r>
                  <a:rPr lang="pl-PL" dirty="0"/>
                  <a:t> </a:t>
                </a:r>
                <a:r>
                  <a:rPr lang="pl-PL" dirty="0" err="1"/>
                  <a:t>multi-scale</a:t>
                </a:r>
                <a:r>
                  <a:rPr lang="pl-PL" dirty="0"/>
                  <a:t> </a:t>
                </a:r>
                <a:r>
                  <a:rPr lang="pl-PL" dirty="0" err="1"/>
                  <a:t>feature</a:t>
                </a:r>
                <a:r>
                  <a:rPr lang="pl-PL" dirty="0"/>
                  <a:t> </a:t>
                </a:r>
                <a:r>
                  <a:rPr lang="pl-PL" dirty="0" err="1"/>
                  <a:t>differencing</a:t>
                </a:r>
                <a:r>
                  <a:rPr lang="pl-PL" dirty="0"/>
                  <a:t> |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dirty="0" smtClean="0"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l-G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l-PL" i="1" dirty="0" err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i="1" dirty="0" err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pl-PL" i="1" dirty="0" err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pl-PL" dirty="0"/>
                  <a:t> −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dirty="0" smtClean="0"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l-G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l-PL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i="1" dirty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pl-PL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l-PL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pl-PL" i="1" dirty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sub>
                        </m:sSub>
                      </m:e>
                    </m:d>
                  </m:oMath>
                </a14:m>
                <a:r>
                  <a:rPr lang="pl-PL" dirty="0"/>
                  <a:t>| as </a:t>
                </a:r>
                <a:r>
                  <a:rPr lang="pl-PL" dirty="0" err="1"/>
                  <a:t>physics-guided</a:t>
                </a:r>
                <a:r>
                  <a:rPr lang="pl-PL" dirty="0"/>
                  <a:t> </a:t>
                </a:r>
                <a:r>
                  <a:rPr lang="pl-PL" dirty="0" err="1"/>
                  <a:t>inductive</a:t>
                </a:r>
                <a:r>
                  <a:rPr lang="pl-PL" dirty="0"/>
                  <a:t> </a:t>
                </a:r>
                <a:r>
                  <a:rPr lang="pl-PL" dirty="0" err="1"/>
                  <a:t>bias</a:t>
                </a:r>
                <a:r>
                  <a:rPr lang="pl-PL" dirty="0"/>
                  <a:t>, (c) </a:t>
                </a:r>
                <a:r>
                  <a:rPr lang="pl-PL" dirty="0" err="1"/>
                  <a:t>custom</a:t>
                </a:r>
                <a:r>
                  <a:rPr lang="pl-PL" dirty="0"/>
                  <a:t> </a:t>
                </a:r>
                <a:r>
                  <a:rPr lang="pl-PL" dirty="0" err="1"/>
                  <a:t>Temporal</a:t>
                </a:r>
                <a:r>
                  <a:rPr lang="pl-PL" dirty="0"/>
                  <a:t> SSM </a:t>
                </a:r>
                <a:r>
                  <a:rPr lang="pl-PL" dirty="0" err="1"/>
                  <a:t>block</a:t>
                </a:r>
                <a:r>
                  <a:rPr lang="pl-PL" dirty="0"/>
                  <a:t> (Mamba-style, </a:t>
                </a:r>
                <a:r>
                  <a:rPr lang="pl-PL" dirty="0" err="1"/>
                  <a:t>pure</a:t>
                </a:r>
                <a:r>
                  <a:rPr lang="pl-PL" dirty="0"/>
                  <a:t> </a:t>
                </a:r>
                <a:r>
                  <a:rPr lang="pl-PL" dirty="0" err="1"/>
                  <a:t>PyTorch</a:t>
                </a:r>
                <a:r>
                  <a:rPr lang="pl-PL" dirty="0"/>
                  <a:t>) for </a:t>
                </a:r>
                <a:r>
                  <a:rPr lang="pl-PL" dirty="0" err="1"/>
                  <a:t>linear-complexity</a:t>
                </a:r>
                <a:r>
                  <a:rPr lang="pl-PL" dirty="0"/>
                  <a:t> </a:t>
                </a:r>
                <a:r>
                  <a:rPr lang="pl-PL" dirty="0" err="1"/>
                  <a:t>sequence</a:t>
                </a:r>
                <a:r>
                  <a:rPr lang="pl-PL" dirty="0"/>
                  <a:t> modeling. </a:t>
                </a:r>
                <a:r>
                  <a:rPr lang="pl-PL" dirty="0" err="1"/>
                  <a:t>Combined</a:t>
                </a:r>
                <a:r>
                  <a:rPr lang="pl-PL" dirty="0"/>
                  <a:t> with </a:t>
                </a:r>
                <a:r>
                  <a:rPr lang="pl-PL" dirty="0" err="1"/>
                  <a:t>differential</a:t>
                </a:r>
                <a:r>
                  <a:rPr lang="pl-PL" dirty="0"/>
                  <a:t> learning </a:t>
                </a:r>
                <a:r>
                  <a:rPr lang="pl-PL" dirty="0" err="1"/>
                  <a:t>rates</a:t>
                </a:r>
                <a:r>
                  <a:rPr lang="pl-PL" dirty="0"/>
                  <a:t> and </a:t>
                </a:r>
                <a:r>
                  <a:rPr lang="pl-PL" dirty="0" err="1"/>
                  <a:t>motion-weighted</a:t>
                </a:r>
                <a:r>
                  <a:rPr lang="pl-PL" dirty="0"/>
                  <a:t> L1 </a:t>
                </a:r>
                <a:r>
                  <a:rPr lang="pl-PL" dirty="0" err="1"/>
                  <a:t>loss</a:t>
                </a:r>
                <a:r>
                  <a:rPr lang="pl-PL" dirty="0"/>
                  <a:t> → </a:t>
                </a:r>
                <a:r>
                  <a:rPr lang="pl-PL" b="1" dirty="0"/>
                  <a:t>MAE 1.42 mm, FDR 2.12% on </a:t>
                </a:r>
                <a:r>
                  <a:rPr lang="pl-PL" b="1" dirty="0" err="1"/>
                  <a:t>held</a:t>
                </a:r>
                <a:r>
                  <a:rPr lang="pl-PL" b="1" dirty="0"/>
                  <a:t>-out </a:t>
                </a:r>
                <a:r>
                  <a:rPr lang="pl-PL" b="1" dirty="0" err="1"/>
                  <a:t>subject</a:t>
                </a:r>
                <a:r>
                  <a:rPr lang="pl-PL" dirty="0"/>
                  <a:t>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pl-PL" b="1" dirty="0"/>
                  <a:t>IMU </a:t>
                </a:r>
                <a:r>
                  <a:rPr lang="pl-PL" b="1" dirty="0" err="1"/>
                  <a:t>integration</a:t>
                </a:r>
                <a:r>
                  <a:rPr lang="pl-PL" b="1" dirty="0"/>
                  <a:t> </a:t>
                </a:r>
                <a:r>
                  <a:rPr lang="pl-PL" b="1" dirty="0" err="1"/>
                  <a:t>explored</a:t>
                </a:r>
                <a:r>
                  <a:rPr lang="pl-PL" dirty="0"/>
                  <a:t> — </a:t>
                </a:r>
                <a:r>
                  <a:rPr lang="pl-PL" dirty="0" err="1"/>
                  <a:t>feature-level</a:t>
                </a:r>
                <a:r>
                  <a:rPr lang="pl-PL" dirty="0"/>
                  <a:t> </a:t>
                </a:r>
                <a:r>
                  <a:rPr lang="pl-PL" dirty="0" err="1"/>
                  <a:t>fusion</a:t>
                </a:r>
                <a:r>
                  <a:rPr lang="pl-PL" dirty="0"/>
                  <a:t> </a:t>
                </a:r>
                <a:r>
                  <a:rPr lang="pl-PL" dirty="0" err="1"/>
                  <a:t>failed</a:t>
                </a:r>
                <a:r>
                  <a:rPr lang="pl-PL" dirty="0"/>
                  <a:t> (model </a:t>
                </a:r>
                <a:r>
                  <a:rPr lang="pl-PL" dirty="0" err="1"/>
                  <a:t>over-relied</a:t>
                </a:r>
                <a:r>
                  <a:rPr lang="pl-PL" dirty="0"/>
                  <a:t> on </a:t>
                </a:r>
                <a:r>
                  <a:rPr lang="pl-PL" dirty="0" err="1"/>
                  <a:t>synthetic</a:t>
                </a:r>
                <a:r>
                  <a:rPr lang="pl-PL" dirty="0"/>
                  <a:t> </a:t>
                </a:r>
                <a:r>
                  <a:rPr lang="pl-PL" dirty="0" err="1"/>
                  <a:t>clean</a:t>
                </a:r>
                <a:r>
                  <a:rPr lang="pl-PL" dirty="0"/>
                  <a:t> </a:t>
                </a:r>
                <a:r>
                  <a:rPr lang="pl-PL" dirty="0" err="1"/>
                  <a:t>signal</a:t>
                </a:r>
                <a:r>
                  <a:rPr lang="pl-PL" dirty="0"/>
                  <a:t>); </a:t>
                </a:r>
                <a:r>
                  <a:rPr lang="pl-PL" dirty="0" err="1"/>
                  <a:t>fixed-weight</a:t>
                </a:r>
                <a:r>
                  <a:rPr lang="pl-PL" dirty="0"/>
                  <a:t> </a:t>
                </a:r>
                <a:r>
                  <a:rPr lang="pl-PL" dirty="0" err="1"/>
                  <a:t>verifier</a:t>
                </a:r>
                <a:r>
                  <a:rPr lang="pl-PL" dirty="0"/>
                  <a:t> </a:t>
                </a:r>
                <a:r>
                  <a:rPr lang="pl-PL" dirty="0" err="1"/>
                  <a:t>gave</a:t>
                </a:r>
                <a:r>
                  <a:rPr lang="pl-PL" dirty="0"/>
                  <a:t> </a:t>
                </a:r>
                <a:r>
                  <a:rPr lang="pl-PL" dirty="0" err="1"/>
                  <a:t>marginal</a:t>
                </a:r>
                <a:r>
                  <a:rPr lang="pl-PL" dirty="0"/>
                  <a:t> </a:t>
                </a:r>
                <a:r>
                  <a:rPr lang="pl-PL" dirty="0" err="1"/>
                  <a:t>gains</a:t>
                </a:r>
                <a:r>
                  <a:rPr lang="pl-PL" dirty="0"/>
                  <a:t>. </a:t>
                </a:r>
                <a:r>
                  <a:rPr lang="pl-PL" dirty="0" err="1"/>
                  <a:t>Curator's</a:t>
                </a:r>
                <a:r>
                  <a:rPr lang="pl-PL" dirty="0"/>
                  <a:t> </a:t>
                </a:r>
                <a:r>
                  <a:rPr lang="pl-PL" dirty="0" err="1"/>
                  <a:t>insight</a:t>
                </a:r>
                <a:r>
                  <a:rPr lang="pl-PL" dirty="0"/>
                  <a:t>: </a:t>
                </a:r>
                <a:r>
                  <a:rPr lang="pl-PL" b="1" dirty="0"/>
                  <a:t>IMU </a:t>
                </a:r>
                <a:r>
                  <a:rPr lang="pl-PL" b="1" dirty="0" err="1"/>
                  <a:t>should</a:t>
                </a:r>
                <a:r>
                  <a:rPr lang="pl-PL" b="1" dirty="0"/>
                  <a:t> be </a:t>
                </a:r>
                <a:r>
                  <a:rPr lang="pl-PL" b="1" dirty="0" err="1"/>
                  <a:t>an</a:t>
                </a:r>
                <a:r>
                  <a:rPr lang="pl-PL" b="1" dirty="0"/>
                  <a:t> independent </a:t>
                </a:r>
                <a:r>
                  <a:rPr lang="pl-PL" b="1" dirty="0" err="1"/>
                  <a:t>classical</a:t>
                </a:r>
                <a:r>
                  <a:rPr lang="pl-PL" b="1" dirty="0"/>
                  <a:t> </a:t>
                </a:r>
                <a:r>
                  <a:rPr lang="pl-PL" b="1" dirty="0" err="1"/>
                  <a:t>estimator</a:t>
                </a:r>
                <a:r>
                  <a:rPr lang="pl-PL" b="1" dirty="0"/>
                  <a:t>, not a network </a:t>
                </a:r>
                <a:r>
                  <a:rPr lang="pl-PL" b="1" dirty="0" err="1"/>
                  <a:t>input</a:t>
                </a:r>
                <a:r>
                  <a:rPr lang="pl-PL" dirty="0"/>
                  <a:t>. </a:t>
                </a:r>
                <a:r>
                  <a:rPr lang="pl-PL" dirty="0" err="1"/>
                  <a:t>Next</a:t>
                </a:r>
                <a:r>
                  <a:rPr lang="pl-PL" dirty="0"/>
                  <a:t> step: Error-</a:t>
                </a:r>
                <a:r>
                  <a:rPr lang="pl-PL" dirty="0" err="1"/>
                  <a:t>State</a:t>
                </a:r>
                <a:r>
                  <a:rPr lang="pl-PL" dirty="0"/>
                  <a:t> Kalman </a:t>
                </a:r>
                <a:r>
                  <a:rPr lang="pl-PL" dirty="0" err="1"/>
                  <a:t>Filter</a:t>
                </a:r>
                <a:r>
                  <a:rPr lang="pl-PL" dirty="0"/>
                  <a:t> with </a:t>
                </a:r>
                <a:r>
                  <a:rPr lang="pl-PL" dirty="0" err="1"/>
                  <a:t>uncertainty-aware</a:t>
                </a:r>
                <a:r>
                  <a:rPr lang="pl-PL" dirty="0"/>
                  <a:t> </a:t>
                </a:r>
                <a:r>
                  <a:rPr lang="pl-PL" dirty="0" err="1"/>
                  <a:t>visual</a:t>
                </a:r>
                <a:r>
                  <a:rPr lang="pl-PL" dirty="0"/>
                  <a:t> </a:t>
                </a:r>
                <a:r>
                  <a:rPr lang="pl-PL" dirty="0" err="1"/>
                  <a:t>predictions</a:t>
                </a:r>
                <a:r>
                  <a:rPr lang="pl-PL" dirty="0"/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CAADE5-9CF3-35C7-5AB8-6171E29941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1188720"/>
                <a:ext cx="11094415" cy="5120640"/>
              </a:xfrm>
              <a:prstGeom prst="rect">
                <a:avLst/>
              </a:prstGeom>
              <a:blipFill>
                <a:blip r:embed="rId2"/>
                <a:stretch>
                  <a:fillRect l="-440" t="-595" r="-769" b="-952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3472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85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64592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Motivation &amp; The Trackerless Challenge</a:t>
            </a:r>
          </a:p>
          <a:p>
            <a:r>
              <a:rPr sz="1400" i="1">
                <a:solidFill>
                  <a:srgbClr val="F39C12"/>
                </a:solidFill>
              </a:rPr>
              <a:t>Clinical need vs. why ultrasound breaks Visual SLAM assumptions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188720"/>
            <a:ext cx="3667658" cy="5120640"/>
          </a:xfrm>
          <a:prstGeom prst="roundRect">
            <a:avLst/>
          </a:prstGeom>
          <a:solidFill>
            <a:srgbClr val="FDF1E2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/>
            <a:r>
              <a:rPr sz="1800" b="1">
                <a:solidFill>
                  <a:srgbClr val="B8501C"/>
                </a:solidFill>
              </a:rPr>
              <a:t>Clinical Bottleneck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• 2D US: cognitive load on sonographer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• 3D mechanical probes: bulky, narrow FoV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• External trackers: expensive, occlusion-prone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• Goal: 3D from a standard 2D probe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62018" y="1188720"/>
            <a:ext cx="3667658" cy="5120640"/>
          </a:xfrm>
          <a:prstGeom prst="roundRect">
            <a:avLst/>
          </a:prstGeom>
          <a:solidFill>
            <a:srgbClr val="FDF1E2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/>
            <a:r>
              <a:rPr sz="1800" b="1">
                <a:solidFill>
                  <a:srgbClr val="B8501C"/>
                </a:solidFill>
              </a:rPr>
              <a:t>Why It's Hard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• Low SNR, acoustic artifacts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• Tissue deforms under probe pressure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• No persistent rigid landmarks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• Aperture problem on linear structures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58276" y="1188720"/>
            <a:ext cx="3667658" cy="5120640"/>
          </a:xfrm>
          <a:prstGeom prst="roundRect">
            <a:avLst/>
          </a:prstGeom>
          <a:solidFill>
            <a:srgbClr val="FDF1E2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/>
            <a:r>
              <a:rPr sz="1800" b="1">
                <a:solidFill>
                  <a:srgbClr val="B8501C"/>
                </a:solidFill>
              </a:rPr>
              <a:t>The Z-Axis Wall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• Out-of-plane motion ≠ pixel translation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• Speckle DECORRELATES instead of shifting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• Optical flow undefined → no gradient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• Must be learned from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85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64592" rtlCol="0" anchor="ctr"/>
          <a:lstStyle/>
          <a:p>
            <a:pPr algn="ctr"/>
            <a:r>
              <a:rPr sz="2800" b="1" dirty="0">
                <a:solidFill>
                  <a:srgbClr val="FFFFFF"/>
                </a:solidFill>
                <a:latin typeface="Calibri"/>
              </a:rPr>
              <a:t>Contributions of This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 dirty="0">
                <a:solidFill>
                  <a:srgbClr val="B8501C"/>
                </a:solidFill>
                <a:latin typeface="Calibri"/>
              </a:rPr>
              <a:t>• Hybrid pipeline that decouples in-plane (classical) and out-of-plane (DL)</a:t>
            </a:r>
          </a:p>
          <a:p>
            <a:pPr>
              <a:spcAft>
                <a:spcPts val="600"/>
              </a:spcAft>
            </a:pPr>
            <a:r>
              <a:rPr sz="2000" dirty="0">
                <a:solidFill>
                  <a:srgbClr val="333333"/>
                </a:solidFill>
                <a:latin typeface="Calibri"/>
              </a:rPr>
              <a:t>• Multi-scale explicit feature differencing — physics-guided inductive bias</a:t>
            </a:r>
          </a:p>
          <a:p>
            <a:pPr>
              <a:spcAft>
                <a:spcPts val="600"/>
              </a:spcAft>
            </a:pPr>
            <a:r>
              <a:rPr sz="2000" dirty="0">
                <a:solidFill>
                  <a:srgbClr val="333333"/>
                </a:solidFill>
                <a:latin typeface="Calibri"/>
              </a:rPr>
              <a:t>• Custom Temporal SSM block — Mamba semantics in pure </a:t>
            </a:r>
            <a:r>
              <a:rPr sz="2000" dirty="0" err="1">
                <a:solidFill>
                  <a:srgbClr val="333333"/>
                </a:solidFill>
                <a:latin typeface="Calibri"/>
              </a:rPr>
              <a:t>PyTorch</a:t>
            </a:r>
            <a:r>
              <a:rPr sz="2000" dirty="0">
                <a:solidFill>
                  <a:srgbClr val="333333"/>
                </a:solidFill>
                <a:latin typeface="Calibri"/>
              </a:rPr>
              <a:t> (no </a:t>
            </a:r>
            <a:r>
              <a:rPr sz="2000" dirty="0" err="1">
                <a:solidFill>
                  <a:srgbClr val="333333"/>
                </a:solidFill>
                <a:latin typeface="Calibri"/>
              </a:rPr>
              <a:t>nvcc</a:t>
            </a:r>
            <a:r>
              <a:rPr sz="2000" dirty="0">
                <a:solidFill>
                  <a:srgbClr val="333333"/>
                </a:solidFill>
                <a:latin typeface="Calibri"/>
              </a:rPr>
              <a:t>)</a:t>
            </a:r>
          </a:p>
          <a:p>
            <a:pPr>
              <a:spcAft>
                <a:spcPts val="600"/>
              </a:spcAft>
            </a:pPr>
            <a:r>
              <a:rPr sz="2000" dirty="0">
                <a:solidFill>
                  <a:srgbClr val="333333"/>
                </a:solidFill>
                <a:latin typeface="Calibri"/>
              </a:rPr>
              <a:t>• Differential learning-rate schedule with staged backbone unfreezing</a:t>
            </a:r>
          </a:p>
          <a:p>
            <a:pPr>
              <a:spcAft>
                <a:spcPts val="600"/>
              </a:spcAft>
            </a:pPr>
            <a:r>
              <a:rPr sz="2000" dirty="0">
                <a:solidFill>
                  <a:srgbClr val="333333"/>
                </a:solidFill>
                <a:latin typeface="Calibri"/>
              </a:rPr>
              <a:t>• Motion-Weighted L1 loss — prevents collapse to slow-motion average</a:t>
            </a:r>
          </a:p>
          <a:p>
            <a:pPr>
              <a:spcAft>
                <a:spcPts val="600"/>
              </a:spcAft>
            </a:pPr>
            <a:r>
              <a:rPr sz="2000" dirty="0">
                <a:solidFill>
                  <a:srgbClr val="333333"/>
                </a:solidFill>
                <a:latin typeface="Calibri"/>
              </a:rPr>
              <a:t>• </a:t>
            </a:r>
            <a:r>
              <a:rPr lang="en-US" dirty="0"/>
              <a:t>Validated on TUS-REC 2024: best held-out subject MAE 1.42 mm (FDR 2.12%); 1197-scan global average MAE 11.56 mm (FDR 19.7%) </a:t>
            </a:r>
            <a:endParaRPr sz="2000" dirty="0">
              <a:solidFill>
                <a:srgbClr val="333333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85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64592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Background &amp; Prior 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188720"/>
            <a:ext cx="3667658" cy="5120640"/>
          </a:xfrm>
          <a:prstGeom prst="roundRect">
            <a:avLst/>
          </a:prstGeom>
          <a:solidFill>
            <a:srgbClr val="FDF1E2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/>
            <a:r>
              <a:rPr sz="1800" b="1">
                <a:solidFill>
                  <a:srgbClr val="B8501C"/>
                </a:solidFill>
              </a:rPr>
              <a:t>Classical Speckle Decorrelation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• NCC patches between frames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• Gaussian beam profile model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• Pure dead-reckoning → drift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• Fails on multi-axis rotation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62018" y="1188720"/>
            <a:ext cx="3667658" cy="5120640"/>
          </a:xfrm>
          <a:prstGeom prst="roundRect">
            <a:avLst/>
          </a:prstGeom>
          <a:solidFill>
            <a:srgbClr val="FDF1E2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/>
            <a:r>
              <a:rPr sz="1800" b="1">
                <a:solidFill>
                  <a:srgbClr val="B8501C"/>
                </a:solidFill>
              </a:rPr>
              <a:t>TUS-REC 2024 Benchmark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• MICCAI public dataset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• 50 subjects, ~140k sequences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• Optical-tracker GT (mm-level)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• Enabled fair architecture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58276" y="1188720"/>
            <a:ext cx="3667658" cy="5120640"/>
          </a:xfrm>
          <a:prstGeom prst="roundRect">
            <a:avLst/>
          </a:prstGeom>
          <a:solidFill>
            <a:srgbClr val="FDF1E2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/>
            <a:r>
              <a:rPr sz="1800" b="1">
                <a:solidFill>
                  <a:srgbClr val="B8501C"/>
                </a:solidFill>
              </a:rPr>
              <a:t>Prior DL Architectures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• Prevost '18 — 3D CNN, weak prior, drifts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• MoGLo-Net '25 — corr + LSTM, single-scale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• FiMA '24 — multi-scale + Transformer, O(S²)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• → This work blends MoGLo's diff + FiMA's scale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85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64592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Proposed Hybrid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448665"/>
            <a:ext cx="5486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 dirty="0">
                <a:solidFill>
                  <a:srgbClr val="333333"/>
                </a:solidFill>
              </a:rPr>
              <a:t>Decoupled X/Y (classical CV) and Z (deep learning).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64626" y="4261098"/>
            <a:ext cx="389237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dirty="0">
                <a:solidFill>
                  <a:srgbClr val="333333"/>
                </a:solidFill>
                <a:latin typeface="Calibri"/>
              </a:rPr>
              <a:t>• X / Y → visible motion → optical flow</a:t>
            </a:r>
          </a:p>
          <a:p>
            <a:pPr>
              <a:spcAft>
                <a:spcPts val="600"/>
              </a:spcAft>
            </a:pPr>
            <a:r>
              <a:rPr sz="1400" dirty="0">
                <a:solidFill>
                  <a:srgbClr val="333333"/>
                </a:solidFill>
                <a:latin typeface="Calibri"/>
              </a:rPr>
              <a:t>• Z → speckle decorrelation → DL</a:t>
            </a:r>
          </a:p>
          <a:p>
            <a:pPr>
              <a:spcAft>
                <a:spcPts val="600"/>
              </a:spcAft>
            </a:pPr>
            <a:r>
              <a:rPr sz="1400" dirty="0">
                <a:solidFill>
                  <a:srgbClr val="333333"/>
                </a:solidFill>
                <a:latin typeface="Calibri"/>
              </a:rPr>
              <a:t>• Best-of-both-worlds split</a:t>
            </a: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43C6744E-2CF3-5037-5360-E90FF48BA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333"/>
            <a:ext cx="6191559" cy="2353036"/>
          </a:xfrm>
          <a:prstGeom prst="rect">
            <a:avLst/>
          </a:prstGeom>
        </p:spPr>
      </p:pic>
      <p:pic>
        <p:nvPicPr>
          <p:cNvPr id="10" name="Obraz 9">
            <a:extLst>
              <a:ext uri="{FF2B5EF4-FFF2-40B4-BE49-F238E27FC236}">
                <a16:creationId xmlns:a16="http://schemas.microsoft.com/office/drawing/2014/main" id="{2EA1E355-6B3E-3BE7-1AA6-5C29116F0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4627" y="1179064"/>
            <a:ext cx="3892378" cy="29215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85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64592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Dataset, Preprocessing &amp; Evaluation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TUS-REC 2024 (Train Part 1) — 50 subjects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HDF5 lazy loading — RAM-safe at scale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Resize 480×640 → 256×256, normalize to [0,1]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Sequence length S = 20 frames; subsampling step 4 → 2 (latest)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Subject 050 strictly held out — never used for training or HP tuning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Metrics: MAE (frame-stable error), FDR = final drift / trajectory length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85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64592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In-Plane Tracking — Visual Odometry Pipeline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ounded Rectangle 2"/>
              <p:cNvSpPr/>
              <p:nvPr/>
            </p:nvSpPr>
            <p:spPr>
              <a:xfrm>
                <a:off x="365760" y="1188720"/>
                <a:ext cx="3667658" cy="5120640"/>
              </a:xfrm>
              <a:prstGeom prst="roundRect">
                <a:avLst/>
              </a:prstGeom>
              <a:solidFill>
                <a:srgbClr val="FDF1E2"/>
              </a:solidFill>
              <a:ln w="19050">
                <a:solidFill>
                  <a:srgbClr val="F39C1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82880" tIns="182880" rIns="182880" rtlCol="0" anchor="ctr"/>
              <a:lstStyle/>
              <a:p>
                <a:pPr algn="ctr"/>
                <a:r>
                  <a:rPr lang="en-GB" sz="1800" b="1" dirty="0" smtClean="0">
                    <a:solidFill>
                      <a:srgbClr val="B8501C"/>
                    </a:solidFill>
                  </a:rPr>
                  <a:t>Shi-</a:t>
                </a:r>
                <a:r>
                  <a:rPr lang="en-GB" sz="1800" b="1" dirty="0" err="1">
                    <a:solidFill>
                      <a:srgbClr val="B8501C"/>
                    </a:solidFill>
                  </a:rPr>
                  <a:t>Tomasi</a:t>
                </a:r>
                <a:r>
                  <a:rPr lang="en-GB" sz="1800" b="1" dirty="0">
                    <a:solidFill>
                      <a:srgbClr val="B8501C"/>
                    </a:solidFill>
                  </a:rPr>
                  <a:t> Corners</a:t>
                </a:r>
              </a:p>
              <a:p>
                <a:pPr>
                  <a:spcAft>
                    <a:spcPts val="400"/>
                  </a:spcAft>
                </a:pPr>
                <a:r>
                  <a:rPr lang="en-GB" sz="1300" dirty="0">
                    <a:solidFill>
                      <a:srgbClr val="333333"/>
                    </a:solidFill>
                  </a:rPr>
                  <a:t>• Structure tensor C from Iₓ,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30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30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ar-AE" sz="130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ar-AE" sz="1300" dirty="0" smtClean="0">
                    <a:solidFill>
                      <a:srgbClr val="333333"/>
                    </a:solidFill>
                  </a:rPr>
                  <a:t> </a:t>
                </a:r>
                <a:endParaRPr lang="ar-AE" sz="1300" dirty="0">
                  <a:solidFill>
                    <a:srgbClr val="333333"/>
                  </a:solidFill>
                </a:endParaRPr>
              </a:p>
              <a:p>
                <a:pPr>
                  <a:spcAft>
                    <a:spcPts val="400"/>
                  </a:spcAft>
                </a:pPr>
                <a:r>
                  <a:rPr lang="ar-AE" sz="1300" dirty="0">
                    <a:solidFill>
                      <a:srgbClr val="333333"/>
                    </a:solidFill>
                  </a:rPr>
                  <a:t>• </a:t>
                </a:r>
                <a:r>
                  <a:rPr lang="en-GB" sz="1300" dirty="0">
                    <a:solidFill>
                      <a:srgbClr val="333333"/>
                    </a:solidFill>
                  </a:rPr>
                  <a:t>Score R = min(</a:t>
                </a:r>
                <a:r>
                  <a:rPr lang="el-GR" sz="1300" dirty="0">
                    <a:solidFill>
                      <a:srgbClr val="333333"/>
                    </a:solidFill>
                  </a:rPr>
                  <a:t>λ₁, λ₂)</a:t>
                </a:r>
              </a:p>
              <a:p>
                <a:pPr>
                  <a:spcAft>
                    <a:spcPts val="400"/>
                  </a:spcAft>
                </a:pPr>
                <a:r>
                  <a:rPr lang="el-GR" sz="1300" dirty="0">
                    <a:solidFill>
                      <a:srgbClr val="333333"/>
                    </a:solidFill>
                  </a:rPr>
                  <a:t>• </a:t>
                </a:r>
                <a:r>
                  <a:rPr lang="en-GB" sz="1300" dirty="0">
                    <a:solidFill>
                      <a:srgbClr val="333333"/>
                    </a:solidFill>
                  </a:rPr>
                  <a:t>Picks speckle patches &amp; echo edges</a:t>
                </a:r>
              </a:p>
              <a:p>
                <a:pPr>
                  <a:spcAft>
                    <a:spcPts val="400"/>
                  </a:spcAft>
                </a:pPr>
                <a:r>
                  <a:rPr lang="en-GB" sz="1300" dirty="0">
                    <a:solidFill>
                      <a:srgbClr val="333333"/>
                    </a:solidFill>
                  </a:rPr>
                  <a:t>• Re-detect every 5 frames</a:t>
                </a:r>
                <a:endParaRPr sz="1300" dirty="0">
                  <a:solidFill>
                    <a:srgbClr val="333333"/>
                  </a:solidFill>
                </a:endParaRPr>
              </a:p>
            </p:txBody>
          </p:sp>
        </mc:Choice>
        <mc:Fallback>
          <p:sp>
            <p:nvSpPr>
              <p:cNvPr id="3" name="Rounded 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" y="1188720"/>
                <a:ext cx="3667658" cy="512064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19050">
                <a:solidFill>
                  <a:srgbClr val="F39C12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/>
          <p:cNvSpPr/>
          <p:nvPr/>
        </p:nvSpPr>
        <p:spPr>
          <a:xfrm>
            <a:off x="4262018" y="1188720"/>
            <a:ext cx="3667658" cy="5120640"/>
          </a:xfrm>
          <a:prstGeom prst="roundRect">
            <a:avLst/>
          </a:prstGeom>
          <a:solidFill>
            <a:srgbClr val="FDF1E2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/>
            <a:r>
              <a:rPr sz="1800" b="1">
                <a:solidFill>
                  <a:srgbClr val="B8501C"/>
                </a:solidFill>
              </a:rPr>
              <a:t>Pyramidal Lucas-Kanade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• Brightness constancy + spatial coherence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• Multi-scale pyramid for large motion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• Per-feature velocity (u, v)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• Robust to small inter-frame shifts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ounded Rectangle 4"/>
              <p:cNvSpPr/>
              <p:nvPr/>
            </p:nvSpPr>
            <p:spPr>
              <a:xfrm>
                <a:off x="8158276" y="1188720"/>
                <a:ext cx="3667658" cy="5120640"/>
              </a:xfrm>
              <a:prstGeom prst="roundRect">
                <a:avLst/>
              </a:prstGeom>
              <a:solidFill>
                <a:srgbClr val="FDF1E2"/>
              </a:solidFill>
              <a:ln w="19050">
                <a:solidFill>
                  <a:srgbClr val="F39C1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82880" tIns="182880" rIns="182880" rtlCol="0" anchor="ctr"/>
              <a:lstStyle/>
              <a:p>
                <a:pPr algn="ctr"/>
                <a:r>
                  <a:rPr lang="en-GB" sz="1800" b="1" dirty="0" smtClean="0">
                    <a:solidFill>
                      <a:srgbClr val="B8501C"/>
                    </a:solidFill>
                  </a:rPr>
                  <a:t>RANSAC Affine</a:t>
                </a:r>
              </a:p>
              <a:p>
                <a:pPr>
                  <a:spcAft>
                    <a:spcPts val="400"/>
                  </a:spcAft>
                </a:pPr>
                <a:r>
                  <a:rPr lang="en-GB" sz="1300" dirty="0">
                    <a:solidFill>
                      <a:srgbClr val="333333"/>
                    </a:solidFill>
                  </a:rPr>
                  <a:t>• Random subsets → fit affine model</a:t>
                </a:r>
              </a:p>
              <a:p>
                <a:pPr>
                  <a:spcAft>
                    <a:spcPts val="400"/>
                  </a:spcAft>
                </a:pPr>
                <a:r>
                  <a:rPr lang="en-GB" sz="1300" dirty="0">
                    <a:solidFill>
                      <a:srgbClr val="333333"/>
                    </a:solidFill>
                  </a:rPr>
                  <a:t>• Highest-consensus model wins</a:t>
                </a:r>
              </a:p>
              <a:p>
                <a:pPr>
                  <a:spcAft>
                    <a:spcPts val="400"/>
                  </a:spcAft>
                </a:pPr>
                <a:r>
                  <a:rPr lang="en-GB" sz="1300" dirty="0">
                    <a:solidFill>
                      <a:srgbClr val="333333"/>
                    </a:solidFill>
                  </a:rPr>
                  <a:t>• Rejects tissue-deformation outliers</a:t>
                </a:r>
              </a:p>
              <a:p>
                <a:pPr>
                  <a:spcAft>
                    <a:spcPts val="400"/>
                  </a:spcAft>
                </a:pPr>
                <a:r>
                  <a:rPr lang="en-GB" sz="1300" dirty="0">
                    <a:solidFill>
                      <a:srgbClr val="333333"/>
                    </a:solidFill>
                  </a:rPr>
                  <a:t>• Output: rotation </a:t>
                </a:r>
                <a:r>
                  <a:rPr lang="el-GR" sz="1300" dirty="0">
                    <a:solidFill>
                      <a:srgbClr val="333333"/>
                    </a:solidFill>
                  </a:rPr>
                  <a:t>θ, </a:t>
                </a:r>
                <a:r>
                  <a:rPr lang="en-GB" sz="1300" dirty="0">
                    <a:solidFill>
                      <a:srgbClr val="333333"/>
                    </a:solidFill>
                  </a:rPr>
                  <a:t>scale s, (tₓ,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30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30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ar-AE" sz="130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sz="1300" dirty="0" smtClean="0">
                    <a:solidFill>
                      <a:srgbClr val="333333"/>
                    </a:solidFill>
                  </a:rPr>
                  <a:t>)</a:t>
                </a:r>
                <a:endParaRPr sz="1300" dirty="0">
                  <a:solidFill>
                    <a:srgbClr val="333333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8276" y="1188720"/>
                <a:ext cx="3667658" cy="512064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F39C12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85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64592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Pitfalls &amp; Coordinate-Alignment Breakthrough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Aperture problem: sliding parallel to fascia → visual reports ≈0 vs. 20 mm true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Wiper effect: tiny hand rotation → arc at depth → distorted projection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Hypothesis confirmed: pixel and sensor coordinate frames are misaligned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Solver mapped pixel-traj → mm-traj: ≈ −130° offset + pixel-to-mm scale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After alignment, visual &amp; GT paths overlay cleanly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937760"/>
            <a:ext cx="3657600" cy="1371600"/>
          </a:xfrm>
          <a:prstGeom prst="roundRect">
            <a:avLst/>
          </a:prstGeom>
          <a:solidFill>
            <a:srgbClr val="FDF1E2"/>
          </a:solidFill>
          <a:ln w="25400">
            <a:solidFill>
              <a:srgbClr val="2E8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37160" rtlCol="0" anchor="ctr"/>
          <a:lstStyle/>
          <a:p>
            <a:pPr algn="ctr"/>
            <a:r>
              <a:rPr sz="1400">
                <a:solidFill>
                  <a:srgbClr val="333333"/>
                </a:solidFill>
              </a:rPr>
              <a:t>Sensor displacement</a:t>
            </a:r>
          </a:p>
          <a:p>
            <a:pPr algn="ctr"/>
            <a:r>
              <a:rPr sz="3200" b="1">
                <a:solidFill>
                  <a:srgbClr val="2E864B"/>
                </a:solidFill>
              </a:rPr>
              <a:t>20 mm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4937760"/>
            <a:ext cx="3657600" cy="1371600"/>
          </a:xfrm>
          <a:prstGeom prst="roundRect">
            <a:avLst/>
          </a:prstGeom>
          <a:solidFill>
            <a:srgbClr val="FDF1E2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37160" rtlCol="0" anchor="ctr"/>
          <a:lstStyle/>
          <a:p>
            <a:pPr algn="ctr"/>
            <a:r>
              <a:rPr sz="1400">
                <a:solidFill>
                  <a:srgbClr val="333333"/>
                </a:solidFill>
              </a:rPr>
              <a:t>Visual (raw)</a:t>
            </a:r>
          </a:p>
          <a:p>
            <a:pPr algn="ctr"/>
            <a:r>
              <a:rPr sz="3200" b="1">
                <a:solidFill>
                  <a:srgbClr val="C0392B"/>
                </a:solidFill>
              </a:rPr>
              <a:t>≈ 0 mm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4937760"/>
            <a:ext cx="3383280" cy="1371600"/>
          </a:xfrm>
          <a:prstGeom prst="roundRect">
            <a:avLst/>
          </a:prstGeom>
          <a:solidFill>
            <a:srgbClr val="FDF1E2"/>
          </a:solidFill>
          <a:ln w="25400">
            <a:solidFill>
              <a:srgbClr val="2E8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37160" rtlCol="0" anchor="ctr"/>
          <a:lstStyle/>
          <a:p>
            <a:pPr algn="ctr"/>
            <a:r>
              <a:rPr sz="1400">
                <a:solidFill>
                  <a:srgbClr val="333333"/>
                </a:solidFill>
              </a:rPr>
              <a:t>After alignment (MAE)</a:t>
            </a:r>
          </a:p>
          <a:p>
            <a:pPr algn="ctr"/>
            <a:r>
              <a:rPr sz="3200" b="1">
                <a:solidFill>
                  <a:srgbClr val="2E864B"/>
                </a:solidFill>
              </a:rPr>
              <a:t>≈ 0.7 mm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85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64592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Out-of-Plane (Z) — Why DL is Required</a:t>
            </a:r>
          </a:p>
          <a:p>
            <a:r>
              <a:rPr sz="1400" i="1">
                <a:solidFill>
                  <a:srgbClr val="F39C12"/>
                </a:solidFill>
              </a:rPr>
              <a:t>And why the obvious Transformer baseline failed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Speckle decorrelates instead of shifting → optical flow undefined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Need to learn the texture-change-rate ↔ physical mm mapping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Baseline attempt: ResNet-18 + 1×1 pooling + Transformer encoder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– Train loss → 0,  Validation FDR &gt; 25%  → catastrophic overfit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– Diagnosis: data-hungry attention, no inductive bias for motion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– 1×1 pooling destroyed spatial topography — model memorized anatomy, not physics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• → Redesign the architecture around physics-guided structure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85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64592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Three Architectural Fixes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188720"/>
            <a:ext cx="3667658" cy="5120640"/>
          </a:xfrm>
          <a:prstGeom prst="roundRect">
            <a:avLst/>
          </a:prstGeom>
          <a:solidFill>
            <a:srgbClr val="FDF1E2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/>
            <a:r>
              <a:rPr sz="1800" b="1">
                <a:solidFill>
                  <a:srgbClr val="B8501C"/>
                </a:solidFill>
              </a:rPr>
              <a:t>#1 — 2×2 Spatial Pool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• Replaces 1×1 GAP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• 4 quadrants per feature map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• Localizes WHERE decorrelation occurs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• (128+256+512)×4 = 3584 features/frame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4262018" y="1188720"/>
                <a:ext cx="3667658" cy="5120640"/>
              </a:xfrm>
              <a:prstGeom prst="roundRect">
                <a:avLst/>
              </a:prstGeom>
              <a:solidFill>
                <a:srgbClr val="FDF1E2"/>
              </a:solidFill>
              <a:ln w="19050">
                <a:solidFill>
                  <a:srgbClr val="F39C1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82880" tIns="182880" rIns="182880" rtlCol="0" anchor="ctr"/>
              <a:lstStyle/>
              <a:p>
                <a:pPr algn="ctr"/>
                <a:r>
                  <a:rPr lang="en-GB" sz="1800" b="1" dirty="0">
                    <a:solidFill>
                      <a:srgbClr val="B8501C"/>
                    </a:solidFill>
                  </a:rPr>
                  <a:t>#2 — Multi-Scale Differencing</a:t>
                </a:r>
              </a:p>
              <a:p>
                <a:pPr>
                  <a:spcAft>
                    <a:spcPts val="400"/>
                  </a:spcAft>
                </a:pPr>
                <a:r>
                  <a:rPr lang="en-GB" sz="1300" dirty="0">
                    <a:solidFill>
                      <a:srgbClr val="333333"/>
                    </a:solidFill>
                  </a:rPr>
                  <a:t>•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00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300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1300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en-US" sz="1300" b="0" i="1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1300" b="0" i="1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300" b="0" i="1" dirty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1300" dirty="0">
                                <a:solidFill>
                                  <a:srgbClr val="333333"/>
                                </a:solidFill>
                              </a:rPr>
                              <m:t>Φ</m:t>
                            </m:r>
                          </m:e>
                          <m:sub>
                            <m:r>
                              <a:rPr lang="en-US" sz="1300" b="0" i="1" dirty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  <m:d>
                          <m:dPr>
                            <m:ctrlPr>
                              <a:rPr lang="en-US" sz="1300" b="0" i="1" dirty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300" b="0" i="1" dirty="0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300" b="0" i="1" dirty="0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1300" b="0" i="1" dirty="0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r>
                          <a:rPr lang="en-US" sz="13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en-US" sz="1300" b="0" i="1" dirty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1300" dirty="0">
                                <a:solidFill>
                                  <a:srgbClr val="333333"/>
                                </a:solidFill>
                              </a:rPr>
                              <m:t>Φ</m:t>
                            </m:r>
                          </m:e>
                          <m:sub>
                            <m:r>
                              <a:rPr lang="en-US" sz="1300" b="0" i="1" dirty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  <m:d>
                          <m:dPr>
                            <m:ctrlPr>
                              <a:rPr lang="en-US" sz="1300" b="0" i="1" dirty="0" smtClean="0">
                                <a:solidFill>
                                  <a:srgbClr val="3333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300" b="0" i="1" dirty="0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300" b="0" i="1" dirty="0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1300" b="0" i="1" dirty="0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300" b="0" i="1" dirty="0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300" b="0" i="1" dirty="0" smtClean="0">
                                    <a:solidFill>
                                      <a:srgbClr val="333333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GB" sz="1300" dirty="0">
                    <a:solidFill>
                      <a:srgbClr val="333333"/>
                    </a:solidFill>
                  </a:rPr>
                  <a:t> </a:t>
                </a:r>
              </a:p>
              <a:p>
                <a:pPr>
                  <a:spcAft>
                    <a:spcPts val="400"/>
                  </a:spcAft>
                </a:pPr>
                <a:r>
                  <a:rPr lang="en-GB" sz="1300" dirty="0">
                    <a:solidFill>
                      <a:srgbClr val="333333"/>
                    </a:solidFill>
                  </a:rPr>
                  <a:t>• Scales l ∈ {2, 3, 4}</a:t>
                </a:r>
              </a:p>
              <a:p>
                <a:pPr>
                  <a:spcAft>
                    <a:spcPts val="400"/>
                  </a:spcAft>
                </a:pPr>
                <a:r>
                  <a:rPr lang="en-GB" sz="1300" dirty="0">
                    <a:solidFill>
                      <a:srgbClr val="333333"/>
                    </a:solidFill>
                  </a:rPr>
                  <a:t>• Forces network to *see* decorrelation</a:t>
                </a:r>
              </a:p>
              <a:p>
                <a:pPr>
                  <a:spcAft>
                    <a:spcPts val="400"/>
                  </a:spcAft>
                </a:pPr>
                <a:r>
                  <a:rPr lang="en-GB" sz="1300" dirty="0">
                    <a:solidFill>
                      <a:srgbClr val="333333"/>
                    </a:solidFill>
                  </a:rPr>
                  <a:t>• </a:t>
                </a:r>
                <a:r>
                  <a:rPr lang="en-GB" sz="1300" dirty="0" err="1">
                    <a:solidFill>
                      <a:srgbClr val="333333"/>
                    </a:solidFill>
                  </a:rPr>
                  <a:t>Generalises</a:t>
                </a:r>
                <a:r>
                  <a:rPr lang="en-GB" sz="1300" dirty="0">
                    <a:solidFill>
                      <a:srgbClr val="333333"/>
                    </a:solidFill>
                  </a:rPr>
                  <a:t> </a:t>
                </a:r>
                <a:r>
                  <a:rPr lang="en-GB" sz="1300" dirty="0" err="1">
                    <a:solidFill>
                      <a:srgbClr val="333333"/>
                    </a:solidFill>
                  </a:rPr>
                  <a:t>MoGLo's</a:t>
                </a:r>
                <a:r>
                  <a:rPr lang="en-GB" sz="1300" dirty="0">
                    <a:solidFill>
                      <a:srgbClr val="333333"/>
                    </a:solidFill>
                  </a:rPr>
                  <a:t> correlation idea</a:t>
                </a:r>
                <a:endParaRPr sz="1300" dirty="0">
                  <a:solidFill>
                    <a:srgbClr val="333333"/>
                  </a:solidFill>
                </a:endParaRPr>
              </a:p>
            </p:txBody>
          </p:sp>
        </mc:Choice>
        <mc:Fallback xmlns="">
          <p:sp>
            <p:nvSpPr>
              <p:cNvPr id="4" name="Rounded 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2018" y="1188720"/>
                <a:ext cx="3667658" cy="512064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19050">
                <a:solidFill>
                  <a:srgbClr val="F39C12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8158276" y="1188720"/>
            <a:ext cx="3667658" cy="5120640"/>
          </a:xfrm>
          <a:prstGeom prst="roundRect">
            <a:avLst/>
          </a:prstGeom>
          <a:solidFill>
            <a:srgbClr val="FDF1E2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/>
            <a:r>
              <a:rPr sz="1800" b="1">
                <a:solidFill>
                  <a:srgbClr val="B8501C"/>
                </a:solidFill>
              </a:rPr>
              <a:t>#3 — Temporal SSM Block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• Mamba-style, O(S) memory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• Causal Conv1d + SiLU gating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• Pure PyTorch — no nvcc required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• Beats Transformer at half the cost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85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64592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Final FiMA-SSM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6355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333333"/>
                </a:solidFill>
              </a:rPr>
              <a:t>Shared ResNet-18 → multi-scale diff → 2×2 pool → fusion → SSM → head.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B3E657B7-53E7-D91E-AE14-9F8AE14AEB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3072" y="1008288"/>
            <a:ext cx="3155455" cy="525290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85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64592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Training Recipe &amp; Engineering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188720"/>
            <a:ext cx="3667658" cy="5120640"/>
          </a:xfrm>
          <a:prstGeom prst="roundRect">
            <a:avLst/>
          </a:prstGeom>
          <a:solidFill>
            <a:srgbClr val="FDF1E2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/>
            <a:r>
              <a:rPr sz="1800" b="1">
                <a:solidFill>
                  <a:srgbClr val="B8501C"/>
                </a:solidFill>
              </a:rPr>
              <a:t>Differential LR + Warmup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• stem &amp; layer1: frozen (ImageNet edges)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• layer2/3/4: LR = 1e-5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• fusion + temporal + head: LR = 1e-4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• Warmup: backbone frozen 2 epochs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62018" y="1188720"/>
            <a:ext cx="3667658" cy="5120640"/>
          </a:xfrm>
          <a:prstGeom prst="roundRect">
            <a:avLst/>
          </a:prstGeom>
          <a:solidFill>
            <a:srgbClr val="FDF1E2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/>
            <a:r>
              <a:rPr sz="1800" b="1" dirty="0">
                <a:solidFill>
                  <a:srgbClr val="B8501C"/>
                </a:solidFill>
              </a:rPr>
              <a:t>Motion-Weighted L1 Loss</a:t>
            </a:r>
          </a:p>
          <a:p>
            <a:pPr>
              <a:spcAft>
                <a:spcPts val="400"/>
              </a:spcAft>
            </a:pPr>
            <a:r>
              <a:rPr sz="1300" dirty="0">
                <a:solidFill>
                  <a:srgbClr val="333333"/>
                </a:solidFill>
              </a:rPr>
              <a:t>• ℒ = mean( |ŷ−y| · (1 + α·y) ),  α = 2</a:t>
            </a:r>
          </a:p>
          <a:p>
            <a:pPr>
              <a:spcAft>
                <a:spcPts val="400"/>
              </a:spcAft>
            </a:pPr>
            <a:r>
              <a:rPr sz="1300" dirty="0">
                <a:solidFill>
                  <a:srgbClr val="333333"/>
                </a:solidFill>
              </a:rPr>
              <a:t>• Up-weights fast sweeps (~10% of frames)</a:t>
            </a:r>
          </a:p>
          <a:p>
            <a:pPr>
              <a:spcAft>
                <a:spcPts val="400"/>
              </a:spcAft>
            </a:pPr>
            <a:r>
              <a:rPr sz="1300" dirty="0">
                <a:solidFill>
                  <a:srgbClr val="333333"/>
                </a:solidFill>
              </a:rPr>
              <a:t>• Prevents collapse to slow-motion mean</a:t>
            </a:r>
          </a:p>
          <a:p>
            <a:pPr>
              <a:spcAft>
                <a:spcPts val="400"/>
              </a:spcAft>
            </a:pPr>
            <a:r>
              <a:rPr sz="1300" dirty="0">
                <a:solidFill>
                  <a:srgbClr val="333333"/>
                </a:solidFill>
              </a:rPr>
              <a:t>• Critical for tracking abrupt motion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58276" y="1188720"/>
            <a:ext cx="3667658" cy="5120640"/>
          </a:xfrm>
          <a:prstGeom prst="roundRect">
            <a:avLst/>
          </a:prstGeom>
          <a:solidFill>
            <a:srgbClr val="FDF1E2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/>
            <a:r>
              <a:rPr sz="1800" b="1">
                <a:solidFill>
                  <a:srgbClr val="B8501C"/>
                </a:solidFill>
              </a:rPr>
              <a:t>System &amp; Engineering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• AdamW + ReduceLROnPlateau (patience 3)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• AMP FP16, grad-clip max_norm 1.0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• HDF5 lazy load, batch 64, S = 20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• NVIDIA A10 24 GB; auto-versioned runs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85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64592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Ablation Study — Architecture Variants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4682655"/>
              </p:ext>
            </p:extLst>
          </p:nvPr>
        </p:nvGraphicFramePr>
        <p:xfrm>
          <a:off x="1371600" y="2011680"/>
          <a:ext cx="94183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36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36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36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36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836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Variant</a:t>
                      </a:r>
                    </a:p>
                  </a:txBody>
                  <a:tcPr>
                    <a:solidFill>
                      <a:srgbClr val="B850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Pooling</a:t>
                      </a:r>
                    </a:p>
                  </a:txBody>
                  <a:tcPr>
                    <a:solidFill>
                      <a:srgbClr val="B850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Temporal</a:t>
                      </a:r>
                    </a:p>
                  </a:txBody>
                  <a:tcPr>
                    <a:solidFill>
                      <a:srgbClr val="B850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MAE (mm)</a:t>
                      </a:r>
                    </a:p>
                  </a:txBody>
                  <a:tcPr>
                    <a:solidFill>
                      <a:srgbClr val="B850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FDR (%)</a:t>
                      </a:r>
                    </a:p>
                  </a:txBody>
                  <a:tcPr>
                    <a:solidFill>
                      <a:srgbClr val="B850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ResNet-18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1×1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≈ 15.9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≈ 25.7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MoGLo-Net replica</a:t>
                      </a:r>
                    </a:p>
                  </a:txBody>
                  <a:tcPr>
                    <a:solidFill>
                      <a:srgbClr val="FD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1×1</a:t>
                      </a:r>
                    </a:p>
                  </a:txBody>
                  <a:tcPr>
                    <a:solidFill>
                      <a:srgbClr val="FD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LSTM</a:t>
                      </a:r>
                    </a:p>
                  </a:txBody>
                  <a:tcPr>
                    <a:solidFill>
                      <a:srgbClr val="FD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>
                          <a:solidFill>
                            <a:srgbClr val="333333"/>
                          </a:solidFill>
                          <a:latin typeface="Calibri"/>
                        </a:rPr>
                        <a:t>≈ </a:t>
                      </a:r>
                      <a:r>
                        <a:rPr lang="pl-PL" sz="1300" dirty="0">
                          <a:solidFill>
                            <a:srgbClr val="333333"/>
                          </a:solidFill>
                          <a:latin typeface="+mn-lt"/>
                        </a:rPr>
                        <a:t>24.05</a:t>
                      </a:r>
                      <a:endParaRPr sz="1300" dirty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D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>
                          <a:solidFill>
                            <a:srgbClr val="333333"/>
                          </a:solidFill>
                          <a:latin typeface="Calibri"/>
                        </a:rPr>
                        <a:t>≈ </a:t>
                      </a:r>
                      <a:r>
                        <a:rPr lang="pl-PL" sz="1300" dirty="0">
                          <a:solidFill>
                            <a:srgbClr val="333333"/>
                          </a:solidFill>
                          <a:latin typeface="+mn-lt"/>
                        </a:rPr>
                        <a:t>38.78</a:t>
                      </a:r>
                      <a:endParaRPr sz="1300" dirty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DF1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FiMA + Transformer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4×4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Transformer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overfit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&gt; 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Proposed FiMA-SSM</a:t>
                      </a:r>
                    </a:p>
                  </a:txBody>
                  <a:tcPr>
                    <a:solidFill>
                      <a:srgbClr val="FD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2×2</a:t>
                      </a:r>
                    </a:p>
                  </a:txBody>
                  <a:tcPr>
                    <a:solidFill>
                      <a:srgbClr val="FD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Calibri"/>
                        </a:rPr>
                        <a:t>Conv1d SSM</a:t>
                      </a:r>
                    </a:p>
                  </a:txBody>
                  <a:tcPr>
                    <a:solidFill>
                      <a:srgbClr val="FD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>
                          <a:solidFill>
                            <a:srgbClr val="333333"/>
                          </a:solidFill>
                          <a:latin typeface="Calibri"/>
                        </a:rPr>
                        <a:t>≈ </a:t>
                      </a:r>
                      <a:r>
                        <a:rPr lang="pl-PL" sz="1300" dirty="0">
                          <a:solidFill>
                            <a:srgbClr val="333333"/>
                          </a:solidFill>
                          <a:latin typeface="+mn-lt"/>
                        </a:rPr>
                        <a:t>11.56	</a:t>
                      </a:r>
                      <a:endParaRPr sz="1300" dirty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DF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dirty="0">
                          <a:solidFill>
                            <a:srgbClr val="333333"/>
                          </a:solidFill>
                          <a:latin typeface="Calibri"/>
                        </a:rPr>
                        <a:t>≈ </a:t>
                      </a:r>
                      <a:r>
                        <a:rPr lang="pl-PL" sz="1300" dirty="0">
                          <a:solidFill>
                            <a:srgbClr val="333333"/>
                          </a:solidFill>
                          <a:latin typeface="+mn-lt"/>
                        </a:rPr>
                        <a:t>19.71</a:t>
                      </a:r>
                    </a:p>
                  </a:txBody>
                  <a:tcPr>
                    <a:solidFill>
                      <a:srgbClr val="FDF1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3949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Topographic pooling + explicit differencing each contribute substantially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SSM matches Transformer accuracy at O(S) cost without overfit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85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64592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Validation on Held-Out Subject 050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9204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 dirty="0">
                <a:solidFill>
                  <a:srgbClr val="333333"/>
                </a:solidFill>
              </a:rPr>
              <a:t>Z-axis trajectory — predicted (red) vs. ground truth (green).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463040"/>
            <a:ext cx="3840480" cy="1280160"/>
          </a:xfrm>
          <a:prstGeom prst="roundRect">
            <a:avLst/>
          </a:prstGeom>
          <a:solidFill>
            <a:srgbClr val="FDF1E2"/>
          </a:solidFill>
          <a:ln w="25400">
            <a:solidFill>
              <a:srgbClr val="2E8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37160" rtlCol="0" anchor="ctr"/>
          <a:lstStyle/>
          <a:p>
            <a:pPr algn="ctr"/>
            <a:r>
              <a:rPr sz="1400">
                <a:solidFill>
                  <a:srgbClr val="333333"/>
                </a:solidFill>
              </a:rPr>
              <a:t>MAE</a:t>
            </a:r>
          </a:p>
          <a:p>
            <a:pPr algn="ctr"/>
            <a:r>
              <a:rPr sz="3200" b="1">
                <a:solidFill>
                  <a:srgbClr val="2E864B"/>
                </a:solidFill>
              </a:rPr>
              <a:t>1.42 mm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3017520"/>
            <a:ext cx="3840480" cy="1280160"/>
          </a:xfrm>
          <a:prstGeom prst="roundRect">
            <a:avLst/>
          </a:prstGeom>
          <a:solidFill>
            <a:srgbClr val="FDF1E2"/>
          </a:solidFill>
          <a:ln w="25400">
            <a:solidFill>
              <a:srgbClr val="2E8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37160" rtlCol="0" anchor="ctr"/>
          <a:lstStyle/>
          <a:p>
            <a:pPr algn="ctr"/>
            <a:r>
              <a:rPr sz="1400">
                <a:solidFill>
                  <a:srgbClr val="333333"/>
                </a:solidFill>
              </a:rPr>
              <a:t>Final Drift Rate</a:t>
            </a:r>
          </a:p>
          <a:p>
            <a:pPr algn="ctr"/>
            <a:r>
              <a:rPr sz="3200" b="1">
                <a:solidFill>
                  <a:srgbClr val="2E864B"/>
                </a:solidFill>
              </a:rPr>
              <a:t>2.12 %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4572000"/>
            <a:ext cx="3840480" cy="1280160"/>
          </a:xfrm>
          <a:prstGeom prst="roundRect">
            <a:avLst/>
          </a:prstGeom>
          <a:solidFill>
            <a:srgbClr val="FDF1E2"/>
          </a:solidFill>
          <a:ln w="25400">
            <a:solidFill>
              <a:srgbClr val="B850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37160" rtlCol="0" anchor="ctr"/>
          <a:lstStyle/>
          <a:p>
            <a:pPr algn="ctr"/>
            <a:r>
              <a:rPr sz="1400">
                <a:solidFill>
                  <a:srgbClr val="333333"/>
                </a:solidFill>
              </a:rPr>
              <a:t>Sequence length</a:t>
            </a:r>
          </a:p>
          <a:p>
            <a:pPr algn="ctr"/>
            <a:r>
              <a:rPr sz="3200" b="1">
                <a:solidFill>
                  <a:srgbClr val="B8501C"/>
                </a:solidFill>
              </a:rPr>
              <a:t>300+ frames</a:t>
            </a:r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F48BD2EC-6756-9A31-BCE7-D9692A2EB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1" y="1097280"/>
            <a:ext cx="6857999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85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64592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Full 3D Trajectory Reconstruction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6050" y="5149233"/>
            <a:ext cx="44505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 dirty="0">
                <a:solidFill>
                  <a:srgbClr val="333333"/>
                </a:solidFill>
              </a:rPr>
              <a:t>Visual Odometry (X,Y) + DL Z prediction → full 6-DOF trajectory.</a:t>
            </a:r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62CEA770-2007-9562-8F7F-28FBD4CFC3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1661" y="1168202"/>
            <a:ext cx="3579314" cy="3723838"/>
          </a:xfrm>
          <a:prstGeom prst="rect">
            <a:avLst/>
          </a:prstGeom>
        </p:spPr>
      </p:pic>
      <p:pic>
        <p:nvPicPr>
          <p:cNvPr id="3" name="0105">
            <a:hlinkClick r:id="" action="ppaction://media"/>
            <a:extLst>
              <a:ext uri="{FF2B5EF4-FFF2-40B4-BE49-F238E27FC236}">
                <a16:creationId xmlns:a16="http://schemas.microsoft.com/office/drawing/2014/main" id="{5661C907-D7D7-F8D9-59C1-B5724C1193A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42760" y="1390574"/>
            <a:ext cx="6036753" cy="3282485"/>
          </a:xfrm>
          <a:prstGeom prst="rect">
            <a:avLst/>
          </a:prstGeom>
        </p:spPr>
      </p:pic>
      <p:sp>
        <p:nvSpPr>
          <p:cNvPr id="12" name="TextBox 3">
            <a:extLst>
              <a:ext uri="{FF2B5EF4-FFF2-40B4-BE49-F238E27FC236}">
                <a16:creationId xmlns:a16="http://schemas.microsoft.com/office/drawing/2014/main" id="{7C446BB0-D98A-FEE9-2368-481A5765F0CA}"/>
              </a:ext>
            </a:extLst>
          </p:cNvPr>
          <p:cNvSpPr txBox="1"/>
          <p:nvPr/>
        </p:nvSpPr>
        <p:spPr>
          <a:xfrm>
            <a:off x="1235868" y="5149233"/>
            <a:ext cx="445053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i="1" dirty="0">
                <a:solidFill>
                  <a:srgbClr val="333333"/>
                </a:solidFill>
              </a:rPr>
              <a:t>2D animated visualization</a:t>
            </a:r>
            <a:endParaRPr sz="1100" i="1" dirty="0">
              <a:solidFill>
                <a:srgbClr val="333333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55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85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64592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Recent Iterations — IMU Study &amp; Training Hardening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188720"/>
            <a:ext cx="3667658" cy="5120640"/>
          </a:xfrm>
          <a:prstGeom prst="roundRect">
            <a:avLst/>
          </a:prstGeom>
          <a:solidFill>
            <a:srgbClr val="FDF1E2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/>
            <a:r>
              <a:rPr sz="1800" b="1">
                <a:solidFill>
                  <a:srgbClr val="B8501C"/>
                </a:solidFill>
              </a:rPr>
              <a:t>IMU as In-Model Feature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• Synthetic IMU from tform derivatives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• Gated additive fusion in encoder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• → Degraded global metrics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</a:rPr>
              <a:t>• Model leaned on too-clean signal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62018" y="1188720"/>
            <a:ext cx="3667658" cy="5120640"/>
          </a:xfrm>
          <a:prstGeom prst="roundRect">
            <a:avLst/>
          </a:prstGeom>
          <a:solidFill>
            <a:srgbClr val="FDF1E2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/>
            <a:r>
              <a:rPr sz="1800" b="1" dirty="0">
                <a:solidFill>
                  <a:srgbClr val="B8501C"/>
                </a:solidFill>
              </a:rPr>
              <a:t>IMU as External Verifier</a:t>
            </a:r>
          </a:p>
          <a:p>
            <a:pPr>
              <a:spcAft>
                <a:spcPts val="400"/>
              </a:spcAft>
            </a:pPr>
            <a:r>
              <a:rPr sz="1300" dirty="0">
                <a:solidFill>
                  <a:srgbClr val="333333"/>
                </a:solidFill>
              </a:rPr>
              <a:t>• Independent |</a:t>
            </a:r>
            <a:r>
              <a:rPr sz="1300" dirty="0" err="1">
                <a:solidFill>
                  <a:srgbClr val="333333"/>
                </a:solidFill>
              </a:rPr>
              <a:t>dz</a:t>
            </a:r>
            <a:r>
              <a:rPr sz="1300" dirty="0">
                <a:solidFill>
                  <a:srgbClr val="333333"/>
                </a:solidFill>
              </a:rPr>
              <a:t>| via double integration</a:t>
            </a:r>
          </a:p>
          <a:p>
            <a:pPr>
              <a:spcAft>
                <a:spcPts val="400"/>
              </a:spcAft>
            </a:pPr>
            <a:r>
              <a:rPr sz="1300" dirty="0">
                <a:solidFill>
                  <a:srgbClr val="333333"/>
                </a:solidFill>
              </a:rPr>
              <a:t>• Weighted fusion (α controls trust)</a:t>
            </a:r>
          </a:p>
          <a:p>
            <a:pPr>
              <a:spcAft>
                <a:spcPts val="400"/>
              </a:spcAft>
            </a:pPr>
            <a:r>
              <a:rPr sz="1300" dirty="0">
                <a:solidFill>
                  <a:srgbClr val="333333"/>
                </a:solidFill>
              </a:rPr>
              <a:t>• Marginal at α=0.7; lowered to α=0.9</a:t>
            </a:r>
          </a:p>
          <a:p>
            <a:pPr>
              <a:spcAft>
                <a:spcPts val="400"/>
              </a:spcAft>
            </a:pPr>
            <a:r>
              <a:rPr sz="1300" dirty="0">
                <a:solidFill>
                  <a:srgbClr val="333333"/>
                </a:solidFill>
              </a:rPr>
              <a:t>• Real hardware IMU is the proper next step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58276" y="1188720"/>
            <a:ext cx="3667658" cy="5120640"/>
          </a:xfrm>
          <a:prstGeom prst="roundRect">
            <a:avLst/>
          </a:prstGeom>
          <a:solidFill>
            <a:srgbClr val="FDF1E2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/>
            <a:r>
              <a:rPr sz="1800" b="1" dirty="0">
                <a:solidFill>
                  <a:srgbClr val="B8501C"/>
                </a:solidFill>
              </a:rPr>
              <a:t>Latest Training-Loop Fixes</a:t>
            </a:r>
          </a:p>
          <a:p>
            <a:pPr>
              <a:spcAft>
                <a:spcPts val="400"/>
              </a:spcAft>
            </a:pPr>
            <a:r>
              <a:rPr sz="1300" dirty="0">
                <a:solidFill>
                  <a:srgbClr val="333333"/>
                </a:solidFill>
              </a:rPr>
              <a:t>• Removed magnitude filter (|</a:t>
            </a:r>
            <a:r>
              <a:rPr sz="1300" dirty="0" err="1">
                <a:solidFill>
                  <a:srgbClr val="333333"/>
                </a:solidFill>
              </a:rPr>
              <a:t>dz</a:t>
            </a:r>
            <a:r>
              <a:rPr sz="1300" dirty="0">
                <a:solidFill>
                  <a:srgbClr val="333333"/>
                </a:solidFill>
              </a:rPr>
              <a:t>|&lt;10mm)</a:t>
            </a:r>
          </a:p>
          <a:p>
            <a:pPr>
              <a:spcAft>
                <a:spcPts val="400"/>
              </a:spcAft>
            </a:pPr>
            <a:r>
              <a:rPr sz="1300" dirty="0">
                <a:solidFill>
                  <a:srgbClr val="333333"/>
                </a:solidFill>
              </a:rPr>
              <a:t>• Frame step 4 → 2 (~2× more samples)</a:t>
            </a:r>
          </a:p>
          <a:p>
            <a:pPr>
              <a:spcAft>
                <a:spcPts val="400"/>
              </a:spcAft>
            </a:pPr>
            <a:r>
              <a:rPr sz="1300" dirty="0">
                <a:solidFill>
                  <a:srgbClr val="333333"/>
                </a:solidFill>
              </a:rPr>
              <a:t>• Epochs 5 → 10</a:t>
            </a:r>
          </a:p>
          <a:p>
            <a:pPr>
              <a:spcAft>
                <a:spcPts val="400"/>
              </a:spcAft>
            </a:pPr>
            <a:r>
              <a:rPr sz="1300" dirty="0">
                <a:solidFill>
                  <a:srgbClr val="333333"/>
                </a:solidFill>
              </a:rPr>
              <a:t>• Scheduler patience 1 → 3 (less LR thrash)</a:t>
            </a:r>
            <a:endParaRPr lang="pl-PL" sz="1300" dirty="0">
              <a:solidFill>
                <a:srgbClr val="333333"/>
              </a:solidFill>
            </a:endParaRPr>
          </a:p>
          <a:p>
            <a:pPr>
              <a:spcAft>
                <a:spcPts val="400"/>
              </a:spcAft>
            </a:pPr>
            <a:r>
              <a:rPr lang="pl-PL" sz="1300" dirty="0">
                <a:solidFill>
                  <a:srgbClr val="333333"/>
                </a:solidFill>
              </a:rPr>
              <a:t>• </a:t>
            </a:r>
            <a:r>
              <a:rPr lang="en-US" sz="1300" dirty="0">
                <a:solidFill>
                  <a:srgbClr val="333333"/>
                </a:solidFill>
              </a:rPr>
              <a:t>Result: 11.56 mm global MAE, 19.71% FDR — best version to date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85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164592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Conclusion &amp; Future 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143632" y="1188718"/>
                <a:ext cx="3833888" cy="15583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l-PL" sz="2000" b="1" dirty="0">
                    <a:solidFill>
                      <a:srgbClr val="B8501C"/>
                    </a:solidFill>
                  </a:rPr>
                  <a:t>Next </a:t>
                </a:r>
                <a:r>
                  <a:rPr lang="pl-PL" sz="2000" b="1" dirty="0" err="1">
                    <a:solidFill>
                      <a:srgbClr val="B8501C"/>
                    </a:solidFill>
                  </a:rPr>
                  <a:t>Steps</a:t>
                </a:r>
                <a:endParaRPr lang="pl-PL" sz="2000" b="1" dirty="0">
                  <a:solidFill>
                    <a:srgbClr val="B8501C"/>
                  </a:solidFill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l-PL" sz="1200" dirty="0" err="1"/>
                  <a:t>Uncertainty</a:t>
                </a:r>
                <a:r>
                  <a:rPr lang="pl-PL" sz="1200" dirty="0"/>
                  <a:t> </a:t>
                </a:r>
                <a:r>
                  <a:rPr lang="pl-PL" sz="1200" dirty="0" err="1"/>
                  <a:t>head</a:t>
                </a:r>
                <a:r>
                  <a:rPr lang="pl-PL" sz="1200" dirty="0"/>
                  <a:t> on </a:t>
                </a:r>
                <a:r>
                  <a:rPr lang="pl-PL" sz="1200" dirty="0" err="1"/>
                  <a:t>FiMANet</a:t>
                </a:r>
                <a:r>
                  <a:rPr lang="pl-PL" sz="1200" dirty="0"/>
                  <a:t> → </a:t>
                </a:r>
                <a:r>
                  <a:rPr lang="pl-PL" sz="1200" dirty="0" err="1"/>
                  <a:t>output</a:t>
                </a:r>
                <a:r>
                  <a:rPr lang="pl-PL" sz="1200" dirty="0"/>
                  <a:t> 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l-PL" sz="1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sz="1200" i="1" dirty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l-GR" sz="1200" i="1" dirty="0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l-GR" sz="12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l-GR" sz="1200" i="1" dirty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l-GR" sz="1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l-GR" sz="1200" dirty="0"/>
                  <a:t>, </a:t>
                </a:r>
                <a:r>
                  <a:rPr lang="pl-PL" sz="1200" dirty="0" err="1"/>
                  <a:t>train</a:t>
                </a:r>
                <a:r>
                  <a:rPr lang="pl-PL" sz="1200" dirty="0"/>
                  <a:t> with </a:t>
                </a:r>
                <a:r>
                  <a:rPr lang="pl-PL" sz="1200" dirty="0" err="1"/>
                  <a:t>heteroscedastic</a:t>
                </a:r>
                <a:r>
                  <a:rPr lang="pl-PL" sz="1200" dirty="0"/>
                  <a:t> </a:t>
                </a:r>
                <a:r>
                  <a:rPr lang="pl-PL" sz="1200" dirty="0" err="1"/>
                  <a:t>loss</a:t>
                </a:r>
                <a:endParaRPr lang="pl-PL" sz="12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l-PL" sz="1200" dirty="0"/>
                  <a:t>Error-</a:t>
                </a:r>
                <a:r>
                  <a:rPr lang="pl-PL" sz="1200" dirty="0" err="1"/>
                  <a:t>State</a:t>
                </a:r>
                <a:r>
                  <a:rPr lang="pl-PL" sz="1200" dirty="0"/>
                  <a:t> Kalman </a:t>
                </a:r>
                <a:r>
                  <a:rPr lang="pl-PL" sz="1200" dirty="0" err="1"/>
                  <a:t>Filter</a:t>
                </a:r>
                <a:r>
                  <a:rPr lang="pl-PL" sz="1200" dirty="0"/>
                  <a:t> to </a:t>
                </a:r>
                <a:r>
                  <a:rPr lang="pl-PL" sz="1200" dirty="0" err="1"/>
                  <a:t>fuse</a:t>
                </a:r>
                <a:r>
                  <a:rPr lang="pl-PL" sz="1200" dirty="0"/>
                  <a:t> </a:t>
                </a:r>
                <a:r>
                  <a:rPr lang="pl-PL" sz="1200" dirty="0" err="1"/>
                  <a:t>visual</a:t>
                </a:r>
                <a:r>
                  <a:rPr lang="pl-PL" sz="1200" dirty="0"/>
                  <a:t> </a:t>
                </a:r>
                <a14:m>
                  <m:oMath xmlns:m="http://schemas.openxmlformats.org/officeDocument/2006/math">
                    <m:r>
                      <a:rPr lang="el-GR" sz="1200" i="1" dirty="0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l-GR" sz="1200" dirty="0"/>
                  <a:t> (</a:t>
                </a:r>
                <a:r>
                  <a:rPr lang="pl-PL" sz="1200" dirty="0" err="1"/>
                  <a:t>weighted</a:t>
                </a:r>
                <a:r>
                  <a:rPr lang="pl-PL" sz="1200" dirty="0"/>
                  <a:t> by </a:t>
                </a:r>
                <a14:m>
                  <m:oMath xmlns:m="http://schemas.openxmlformats.org/officeDocument/2006/math">
                    <m:r>
                      <a:rPr lang="el-GR" sz="1200" i="1" dirty="0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l-GR" sz="1200" dirty="0"/>
                  <a:t>) </a:t>
                </a:r>
                <a:r>
                  <a:rPr lang="pl-PL" sz="1200" dirty="0"/>
                  <a:t>with </a:t>
                </a:r>
                <a:r>
                  <a:rPr lang="pl-PL" sz="1200" dirty="0" err="1"/>
                  <a:t>synthetic</a:t>
                </a:r>
                <a:r>
                  <a:rPr lang="pl-PL" sz="1200" dirty="0"/>
                  <a:t> IMU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l-PL" sz="1200" dirty="0" err="1"/>
                  <a:t>Frame-difference</a:t>
                </a:r>
                <a:r>
                  <a:rPr lang="pl-PL" sz="1200" dirty="0"/>
                  <a:t> </a:t>
                </a:r>
                <a:r>
                  <a:rPr lang="pl-PL" sz="1200" dirty="0" err="1"/>
                  <a:t>channels</a:t>
                </a:r>
                <a:r>
                  <a:rPr lang="pl-PL" sz="1200" dirty="0"/>
                  <a:t> as </a:t>
                </a:r>
                <a:r>
                  <a:rPr lang="pl-PL" sz="1200" dirty="0" err="1"/>
                  <a:t>additional</a:t>
                </a:r>
                <a:r>
                  <a:rPr lang="pl-PL" sz="1200" dirty="0"/>
                  <a:t> </a:t>
                </a:r>
                <a14:m>
                  <m:oMath xmlns:m="http://schemas.openxmlformats.org/officeDocument/2006/math">
                    <m:r>
                      <a:rPr lang="pl-PL" sz="1200" i="1" dirty="0" smtClean="0">
                        <a:latin typeface="Cambria Math" panose="02040503050406030204" pitchFamily="18" charset="0"/>
                      </a:rPr>
                      <m:t>𝑖𝑛𝑝𝑢𝑡</m:t>
                    </m:r>
                    <m:r>
                      <a:rPr lang="pl-PL" sz="1200" i="1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pl-PL" sz="1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pl-PL" sz="12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l-PL" sz="1200" i="1" dirty="0" err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l-PL" sz="1200" i="1" dirty="0" err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pl-PL" sz="1200" i="1" dirty="0" err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pl-PL" sz="1200" i="1" dirty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pl-PL" sz="1200" i="1" dirty="0" err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l-PL" sz="1200" i="1" dirty="0" err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pl-PL" sz="1200" i="1" dirty="0" err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pl-PL" sz="1200" i="1" dirty="0">
                                <a:latin typeface="Cambria Math" panose="02040503050406030204" pitchFamily="18" charset="0"/>
                              </a:rPr>
                              <m:t>− </m:t>
                            </m:r>
                            <m:sSub>
                              <m:sSubPr>
                                <m:ctrlPr>
                                  <a:rPr lang="pl-PL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l-PL" sz="1200" i="1" dirty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pl-PL" sz="12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l-PL" sz="1200" i="1" dirty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pl-PL" sz="1200" i="1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pl-PL" sz="1200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sub>
                            </m:sSub>
                          </m:e>
                        </m:d>
                      </m:e>
                    </m:d>
                    <m:r>
                      <a:rPr lang="pl-PL" sz="12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l-PL" sz="1200" dirty="0"/>
                  <a:t>— </a:t>
                </a:r>
                <a:r>
                  <a:rPr lang="pl-PL" sz="1200" dirty="0" err="1"/>
                  <a:t>likely</a:t>
                </a:r>
                <a:r>
                  <a:rPr lang="pl-PL" sz="1200" dirty="0"/>
                  <a:t> </a:t>
                </a:r>
                <a:r>
                  <a:rPr lang="pl-PL" sz="1200" dirty="0" err="1"/>
                  <a:t>accuracy</a:t>
                </a:r>
                <a:r>
                  <a:rPr lang="pl-PL" sz="1200" dirty="0"/>
                  <a:t> </a:t>
                </a:r>
                <a:r>
                  <a:rPr lang="pl-PL" sz="1200" dirty="0" err="1"/>
                  <a:t>boost</a:t>
                </a:r>
                <a:endParaRPr lang="pl-PL" sz="12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3632" y="1188718"/>
                <a:ext cx="3833888" cy="1558375"/>
              </a:xfrm>
              <a:prstGeom prst="rect">
                <a:avLst/>
              </a:prstGeom>
              <a:blipFill>
                <a:blip r:embed="rId2"/>
                <a:stretch>
                  <a:fillRect l="-1749" t="-1953" b="-3710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7977520" y="1188719"/>
            <a:ext cx="383388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B8501C"/>
                </a:solidFill>
              </a:rPr>
              <a:t>Future Work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l-PL" sz="1200" dirty="0"/>
              <a:t>Real hardware IMU </a:t>
            </a:r>
            <a:r>
              <a:rPr lang="pl-PL" sz="1200" dirty="0" err="1"/>
              <a:t>mounted</a:t>
            </a:r>
            <a:r>
              <a:rPr lang="pl-PL" sz="1200" dirty="0"/>
              <a:t> on the </a:t>
            </a:r>
            <a:r>
              <a:rPr lang="pl-PL" sz="1200" dirty="0" err="1"/>
              <a:t>probe</a:t>
            </a:r>
            <a:r>
              <a:rPr lang="pl-PL" sz="1200" dirty="0"/>
              <a:t> — </a:t>
            </a:r>
            <a:r>
              <a:rPr lang="pl-PL" sz="1200" dirty="0" err="1"/>
              <a:t>eliminates</a:t>
            </a:r>
            <a:r>
              <a:rPr lang="pl-PL" sz="1200" dirty="0"/>
              <a:t> the </a:t>
            </a:r>
            <a:r>
              <a:rPr lang="pl-PL" sz="1200" dirty="0" err="1"/>
              <a:t>synthetic</a:t>
            </a:r>
            <a:r>
              <a:rPr lang="pl-PL" sz="1200" dirty="0"/>
              <a:t>-data </a:t>
            </a:r>
            <a:r>
              <a:rPr lang="pl-PL" sz="1200" dirty="0" err="1"/>
              <a:t>ceiling</a:t>
            </a:r>
            <a:endParaRPr lang="pl-PL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l-PL" sz="1200" dirty="0" err="1"/>
              <a:t>Factor</a:t>
            </a:r>
            <a:r>
              <a:rPr lang="pl-PL" sz="1200" dirty="0"/>
              <a:t> </a:t>
            </a:r>
            <a:r>
              <a:rPr lang="pl-PL" sz="1200" dirty="0" err="1"/>
              <a:t>Graph</a:t>
            </a:r>
            <a:r>
              <a:rPr lang="pl-PL" sz="1200" dirty="0"/>
              <a:t> </a:t>
            </a:r>
            <a:r>
              <a:rPr lang="pl-PL" sz="1200" dirty="0" err="1"/>
              <a:t>Optimization</a:t>
            </a:r>
            <a:r>
              <a:rPr lang="pl-PL" sz="1200" dirty="0"/>
              <a:t> (GTSAM) for </a:t>
            </a:r>
            <a:r>
              <a:rPr lang="pl-PL" sz="1200" dirty="0" err="1"/>
              <a:t>global</a:t>
            </a:r>
            <a:r>
              <a:rPr lang="pl-PL" sz="1200" dirty="0"/>
              <a:t> </a:t>
            </a:r>
            <a:r>
              <a:rPr lang="pl-PL" sz="1200" dirty="0" err="1"/>
              <a:t>trajectory</a:t>
            </a:r>
            <a:r>
              <a:rPr lang="pl-PL" sz="1200" dirty="0"/>
              <a:t> </a:t>
            </a:r>
            <a:r>
              <a:rPr lang="pl-PL" sz="1200" dirty="0" err="1"/>
              <a:t>consistency</a:t>
            </a:r>
            <a:r>
              <a:rPr lang="pl-PL" sz="1200" dirty="0"/>
              <a:t>, not </a:t>
            </a:r>
            <a:r>
              <a:rPr lang="pl-PL" sz="1200" dirty="0" err="1"/>
              <a:t>just</a:t>
            </a:r>
            <a:r>
              <a:rPr lang="pl-PL" sz="1200" dirty="0"/>
              <a:t> </a:t>
            </a:r>
            <a:r>
              <a:rPr lang="pl-PL" sz="1200" dirty="0" err="1"/>
              <a:t>frame</a:t>
            </a:r>
            <a:r>
              <a:rPr lang="pl-PL" sz="1200" dirty="0"/>
              <a:t>-by-</a:t>
            </a:r>
            <a:r>
              <a:rPr lang="pl-PL" sz="1200" dirty="0" err="1"/>
              <a:t>frame</a:t>
            </a:r>
            <a:endParaRPr lang="pl-PL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l-PL" sz="1200" dirty="0" err="1"/>
              <a:t>NeRF</a:t>
            </a:r>
            <a:r>
              <a:rPr lang="pl-PL" sz="1200" dirty="0"/>
              <a:t>-US / 3D </a:t>
            </a:r>
            <a:r>
              <a:rPr lang="pl-PL" sz="1200" dirty="0" err="1"/>
              <a:t>Gaussian</a:t>
            </a:r>
            <a:r>
              <a:rPr lang="pl-PL" sz="1200" dirty="0"/>
              <a:t> </a:t>
            </a:r>
            <a:r>
              <a:rPr lang="pl-PL" sz="1200" dirty="0" err="1"/>
              <a:t>Splatting</a:t>
            </a:r>
            <a:r>
              <a:rPr lang="pl-PL" sz="1200" dirty="0"/>
              <a:t> for </a:t>
            </a:r>
            <a:r>
              <a:rPr lang="pl-PL" sz="1200" dirty="0" err="1"/>
              <a:t>view-consistent</a:t>
            </a:r>
            <a:r>
              <a:rPr lang="pl-PL" sz="1200" dirty="0"/>
              <a:t> </a:t>
            </a:r>
            <a:r>
              <a:rPr lang="pl-PL" sz="1200" dirty="0" err="1"/>
              <a:t>volume</a:t>
            </a:r>
            <a:r>
              <a:rPr lang="pl-PL" sz="1200" dirty="0"/>
              <a:t> rendering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l-PL" sz="1200" dirty="0"/>
              <a:t>Multi-</a:t>
            </a:r>
            <a:r>
              <a:rPr lang="pl-PL" sz="1200" dirty="0" err="1"/>
              <a:t>center</a:t>
            </a:r>
            <a:r>
              <a:rPr lang="pl-PL" sz="1200" dirty="0"/>
              <a:t> </a:t>
            </a:r>
            <a:r>
              <a:rPr lang="pl-PL" sz="1200" dirty="0" err="1"/>
              <a:t>dataset</a:t>
            </a:r>
            <a:r>
              <a:rPr lang="pl-PL" sz="1200" dirty="0"/>
              <a:t> </a:t>
            </a:r>
            <a:r>
              <a:rPr lang="pl-PL" sz="1200" dirty="0" err="1"/>
              <a:t>collection</a:t>
            </a:r>
            <a:r>
              <a:rPr lang="pl-PL" sz="1200" dirty="0"/>
              <a:t> </a:t>
            </a:r>
            <a:r>
              <a:rPr lang="pl-PL" sz="1200" dirty="0" err="1"/>
              <a:t>beyond</a:t>
            </a:r>
            <a:r>
              <a:rPr lang="pl-PL" sz="1200" dirty="0"/>
              <a:t> TUS-REC for cross-</a:t>
            </a:r>
            <a:r>
              <a:rPr lang="pl-PL" sz="1200" dirty="0" err="1"/>
              <a:t>machine</a:t>
            </a:r>
            <a:r>
              <a:rPr lang="pl-PL" sz="1200" dirty="0"/>
              <a:t> </a:t>
            </a:r>
            <a:r>
              <a:rPr lang="pl-PL" sz="1200" dirty="0" err="1"/>
              <a:t>generalization</a:t>
            </a:r>
            <a:endParaRPr lang="pl-PL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l-PL" sz="1200" dirty="0"/>
              <a:t>Real-</a:t>
            </a:r>
            <a:r>
              <a:rPr lang="pl-PL" sz="1200" dirty="0" err="1"/>
              <a:t>time</a:t>
            </a:r>
            <a:r>
              <a:rPr lang="pl-PL" sz="1200" dirty="0"/>
              <a:t> </a:t>
            </a:r>
            <a:r>
              <a:rPr lang="pl-PL" sz="1200" dirty="0" err="1"/>
              <a:t>deployment</a:t>
            </a:r>
            <a:r>
              <a:rPr lang="pl-PL" sz="1200" dirty="0"/>
              <a:t> — </a:t>
            </a:r>
            <a:r>
              <a:rPr lang="pl-PL" sz="1200" dirty="0" err="1"/>
              <a:t>TensorRT</a:t>
            </a:r>
            <a:r>
              <a:rPr lang="pl-PL" sz="1200" dirty="0"/>
              <a:t> export, </a:t>
            </a:r>
            <a:r>
              <a:rPr lang="pl-PL" sz="1200" dirty="0" err="1"/>
              <a:t>custom</a:t>
            </a:r>
            <a:r>
              <a:rPr lang="pl-PL" sz="1200" dirty="0"/>
              <a:t> Mamba CUDA </a:t>
            </a:r>
            <a:r>
              <a:rPr lang="pl-PL" sz="1200" dirty="0" err="1"/>
              <a:t>kernels</a:t>
            </a:r>
            <a:endParaRPr lang="pl-PL" sz="1200" dirty="0"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A1EDC8AB-5457-6F5D-EC57-C5D2C5AD9FCF}"/>
              </a:ext>
            </a:extLst>
          </p:cNvPr>
          <p:cNvSpPr txBox="1"/>
          <p:nvPr/>
        </p:nvSpPr>
        <p:spPr>
          <a:xfrm>
            <a:off x="309744" y="1188719"/>
            <a:ext cx="3833888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B8501C"/>
                </a:solidFill>
              </a:rPr>
              <a:t>Conclusion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200" dirty="0" err="1">
                <a:solidFill>
                  <a:srgbClr val="333333"/>
                </a:solidFill>
              </a:rPr>
              <a:t>Trackerless</a:t>
            </a:r>
            <a:r>
              <a:rPr sz="1200" dirty="0">
                <a:solidFill>
                  <a:srgbClr val="333333"/>
                </a:solidFill>
              </a:rPr>
              <a:t> 3D US is feasible with a hybrid pipeline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333333"/>
                </a:solidFill>
              </a:rPr>
              <a:t>Decoupling X/Y (classical) and Z (DL) plays to each method's strengths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333333"/>
                </a:solidFill>
              </a:rPr>
              <a:t>Multi-scale 2×2 pool + explicit differencing + SSM beats Transformer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333333"/>
                </a:solidFill>
              </a:rPr>
              <a:t>Motion-weighted loss + warmup-with-differential-LR are essential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333333"/>
                </a:solidFill>
              </a:rPr>
              <a:t>Validation: MAE 1.42 mm, FDR 2.12% on unseen subject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</TotalTime>
  <Words>1395</Words>
  <Application>Microsoft Office PowerPoint</Application>
  <PresentationFormat>Широкоэкранный</PresentationFormat>
  <Paragraphs>206</Paragraphs>
  <Slides>18</Slides>
  <Notes>1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 Math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usr</cp:lastModifiedBy>
  <cp:revision>13</cp:revision>
  <dcterms:created xsi:type="dcterms:W3CDTF">2013-01-27T09:14:16Z</dcterms:created>
  <dcterms:modified xsi:type="dcterms:W3CDTF">2026-04-29T15:23:46Z</dcterms:modified>
  <cp:category/>
</cp:coreProperties>
</file>